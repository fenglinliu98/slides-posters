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712" r:id="rId2"/>
    <p:sldId id="725" r:id="rId3"/>
    <p:sldId id="726" r:id="rId4"/>
    <p:sldId id="719" r:id="rId5"/>
    <p:sldId id="728" r:id="rId6"/>
    <p:sldId id="730" r:id="rId7"/>
    <p:sldId id="731" r:id="rId8"/>
    <p:sldId id="733" r:id="rId9"/>
    <p:sldId id="736" r:id="rId10"/>
    <p:sldId id="737" r:id="rId11"/>
    <p:sldId id="739" r:id="rId12"/>
    <p:sldId id="738" r:id="rId13"/>
    <p:sldId id="740" r:id="rId14"/>
    <p:sldId id="742" r:id="rId15"/>
    <p:sldId id="754" r:id="rId16"/>
    <p:sldId id="755" r:id="rId17"/>
    <p:sldId id="45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70787" autoAdjust="0"/>
  </p:normalViewPr>
  <p:slideViewPr>
    <p:cSldViewPr snapToGrid="0">
      <p:cViewPr>
        <p:scale>
          <a:sx n="66" d="100"/>
          <a:sy n="66" d="100"/>
        </p:scale>
        <p:origin x="1578" y="-126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1C2FA-C6B1-48BC-9E1E-F4E2BF8E3597}" type="datetimeFigureOut">
              <a:rPr lang="zh-CN" altLang="en-US" smtClean="0"/>
              <a:pPr/>
              <a:t>2020/10/23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4D4C-B76D-475C-B758-832A6C1CD0D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04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en-US" altLang="zh-CN" sz="1200" dirty="0"/>
              <a:t>Hi, everyone. I</a:t>
            </a:r>
            <a:r>
              <a:rPr kumimoji="1" lang="en-US" altLang="zh-CN" sz="1200" baseline="0" dirty="0"/>
              <a:t> a</a:t>
            </a:r>
            <a:r>
              <a:rPr kumimoji="1" lang="en-US" altLang="zh-CN" sz="1200" dirty="0"/>
              <a:t>m </a:t>
            </a:r>
            <a:r>
              <a:rPr kumimoji="1" lang="en-US" altLang="zh-CN" sz="1200" dirty="0" err="1"/>
              <a:t>Fenglin</a:t>
            </a:r>
            <a:r>
              <a:rPr kumimoji="1" lang="en-US" altLang="zh-CN" sz="1200" dirty="0"/>
              <a:t> Liu from Peking University. I am glad to introduce our work: </a:t>
            </a:r>
            <a:r>
              <a:rPr lang="en-US" altLang="zh-CN" sz="1200" dirty="0"/>
              <a:t>Prophet Attention: Predicting Attention with Future Attention </a:t>
            </a:r>
            <a:endParaRPr kumimoji="1" lang="en-US" altLang="zh-CN" sz="1200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149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My</a:t>
            </a:r>
            <a:r>
              <a:rPr lang="en-US" altLang="zh-CN" baseline="0" dirty="0"/>
              <a:t> presentation consists of four sections, which are listed in this slide.</a:t>
            </a:r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85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/>
              <a:t>Now, let's start the first section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149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image captioning, </a:t>
            </a:r>
            <a:r>
              <a:rPr lang="en-US" altLang="zh-CN" sz="1800" b="0" i="0" u="none" strike="noStrike" baseline="0" dirty="0">
                <a:latin typeface="NimbusRomNo9L-Regu"/>
              </a:rPr>
              <a:t>the attention-enhanced encoder-decoder framework is widely adopted to </a:t>
            </a:r>
            <a:r>
              <a:rPr lang="en-US" altLang="zh-CN" dirty="0">
                <a:solidFill>
                  <a:srgbClr val="FF0000"/>
                </a:solidFill>
              </a:rPr>
              <a:t>take an </a:t>
            </a:r>
            <a:r>
              <a:rPr lang="en-US" altLang="zh-CN" b="1" dirty="0">
                <a:solidFill>
                  <a:srgbClr val="FF0000"/>
                </a:solidFill>
              </a:rPr>
              <a:t>image V</a:t>
            </a:r>
            <a:r>
              <a:rPr lang="en-US" altLang="zh-CN" dirty="0">
                <a:solidFill>
                  <a:srgbClr val="FF0000"/>
                </a:solidFill>
              </a:rPr>
              <a:t> as input</a:t>
            </a:r>
            <a:r>
              <a:rPr lang="en-US" altLang="zh-CN" dirty="0"/>
              <a:t> to </a:t>
            </a:r>
            <a:r>
              <a:rPr lang="en-US" altLang="zh-CN" dirty="0">
                <a:solidFill>
                  <a:srgbClr val="FF0000"/>
                </a:solidFill>
              </a:rPr>
              <a:t>generate a </a:t>
            </a:r>
            <a:r>
              <a:rPr lang="en-US" altLang="zh-CN" b="1" dirty="0">
                <a:solidFill>
                  <a:srgbClr val="FF0000"/>
                </a:solidFill>
              </a:rPr>
              <a:t>description</a:t>
            </a:r>
            <a:r>
              <a:rPr lang="en-US" altLang="zh-CN" dirty="0">
                <a:solidFill>
                  <a:srgbClr val="FF0000"/>
                </a:solidFill>
              </a:rPr>
              <a:t> S</a:t>
            </a:r>
            <a:r>
              <a:rPr lang="en-US" altLang="zh-CN" dirty="0"/>
              <a:t>. The training objective is to </a:t>
            </a:r>
            <a:r>
              <a:rPr lang="en-US" altLang="zh-CN" dirty="0">
                <a:solidFill>
                  <a:srgbClr val="FF0000"/>
                </a:solidFill>
              </a:rPr>
              <a:t>minimize the cross entropy loss.</a:t>
            </a:r>
            <a:endParaRPr lang="en-US" altLang="zh-CN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858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The conventional attention-enhanced encoder-decoder framework usually consists of a visual encoder and an attention-enhanced language decoder.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858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image captioning, the attention model is expected to </a:t>
            </a:r>
            <a:r>
              <a:rPr lang="en-US" altLang="zh-CN" sz="1200" dirty="0">
                <a:solidFill>
                  <a:srgbClr val="FF0000"/>
                </a:solidFill>
              </a:rPr>
              <a:t>ground the salient image regions to generate the next word in the sentence.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However, from the above equation, we can find that </a:t>
            </a:r>
            <a:r>
              <a:rPr lang="en-US" altLang="zh-CN" sz="1200" dirty="0"/>
              <a:t>current attention model </a:t>
            </a:r>
            <a:r>
              <a:rPr lang="en-US" altLang="zh-CN" sz="1200" dirty="0">
                <a:solidFill>
                  <a:srgbClr val="FF0000"/>
                </a:solidFill>
              </a:rPr>
              <a:t>attends</a:t>
            </a:r>
            <a:r>
              <a:rPr lang="en-US" altLang="zh-CN" sz="1200" dirty="0"/>
              <a:t> to image regions based on </a:t>
            </a:r>
            <a:r>
              <a:rPr lang="en-US" altLang="zh-CN" sz="1200" dirty="0">
                <a:solidFill>
                  <a:srgbClr val="FF0000"/>
                </a:solidFill>
              </a:rPr>
              <a:t>current</a:t>
            </a:r>
            <a:r>
              <a:rPr lang="en-US" altLang="zh-CN" sz="1200" dirty="0"/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hidden</a:t>
            </a:r>
            <a:r>
              <a:rPr lang="en-US" altLang="zh-CN" sz="1200" dirty="0"/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state</a:t>
            </a:r>
            <a:r>
              <a:rPr lang="en-US" altLang="zh-CN" sz="1200" dirty="0"/>
              <a:t>, which contains the information of </a:t>
            </a:r>
            <a:r>
              <a:rPr lang="en-US" altLang="zh-CN" sz="1200" dirty="0">
                <a:solidFill>
                  <a:srgbClr val="FF0000"/>
                </a:solidFill>
              </a:rPr>
              <a:t>past generated words</a:t>
            </a:r>
            <a:r>
              <a:rPr lang="en-US" altLang="zh-CN" sz="1200" dirty="0"/>
              <a:t>. It</a:t>
            </a:r>
            <a:r>
              <a:rPr lang="zh-CN" altLang="en-US" sz="1200" dirty="0"/>
              <a:t> </a:t>
            </a:r>
            <a:r>
              <a:rPr lang="en-US" altLang="zh-CN" sz="1200" dirty="0"/>
              <a:t>means</a:t>
            </a:r>
            <a:r>
              <a:rPr lang="zh-CN" altLang="en-US" sz="1200" dirty="0"/>
              <a:t> </a:t>
            </a:r>
            <a:r>
              <a:rPr lang="en-US" altLang="zh-CN" sz="1200" dirty="0"/>
              <a:t>that the attention model has to </a:t>
            </a:r>
            <a:r>
              <a:rPr lang="en-US" altLang="zh-CN" sz="1200" dirty="0">
                <a:solidFill>
                  <a:srgbClr val="FF0000"/>
                </a:solidFill>
              </a:rPr>
              <a:t>predict attention weights without knowing the word it should ground, which results in a </a:t>
            </a:r>
            <a:r>
              <a:rPr lang="en-US" altLang="zh-CN" sz="1200" dirty="0"/>
              <a:t>“</a:t>
            </a:r>
            <a:r>
              <a:rPr lang="en-US" altLang="zh-CN" sz="1200" b="1" dirty="0">
                <a:solidFill>
                  <a:srgbClr val="FF0000"/>
                </a:solidFill>
              </a:rPr>
              <a:t>deviated focus</a:t>
            </a:r>
            <a:r>
              <a:rPr lang="en-US" altLang="zh-CN" sz="1200" b="1" dirty="0"/>
              <a:t>”</a:t>
            </a:r>
            <a:r>
              <a:rPr lang="en-US" altLang="zh-CN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dirty="0"/>
              <a:t>problem, i.e., </a:t>
            </a:r>
            <a:r>
              <a:rPr lang="en-US" altLang="zh-CN" sz="1200" b="0" i="0" u="none" strike="noStrike" baseline="0" dirty="0">
                <a:latin typeface="NimbusRomNo9L-Regu"/>
              </a:rPr>
              <a:t>the attended image regions are more grounded on current input word than the output one.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150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200" dirty="0"/>
              <a:t>To better understand the “</a:t>
            </a:r>
            <a:r>
              <a:rPr lang="en-US" altLang="zh-CN" sz="1200" b="1" dirty="0">
                <a:solidFill>
                  <a:srgbClr val="FF0000"/>
                </a:solidFill>
              </a:rPr>
              <a:t>de/vi/a/ted focus</a:t>
            </a:r>
            <a:r>
              <a:rPr lang="en-US" altLang="zh-CN" sz="1200" b="1" dirty="0"/>
              <a:t>”</a:t>
            </a:r>
            <a:r>
              <a:rPr lang="en-US" altLang="zh-CN" sz="1200" b="1" dirty="0">
                <a:solidFill>
                  <a:srgbClr val="FF0000"/>
                </a:solidFill>
              </a:rPr>
              <a:t> </a:t>
            </a:r>
            <a:r>
              <a:rPr lang="en-US" altLang="zh-CN" sz="1200" dirty="0"/>
              <a:t>problem, we </a:t>
            </a:r>
            <a:r>
              <a:rPr lang="en-US" altLang="zh-CN" sz="1800" b="0" i="0" u="none" strike="noStrike" baseline="0" dirty="0">
                <a:latin typeface="NimbusRomNo9L-Regu"/>
              </a:rPr>
              <a:t>illustrate a generated caption and the attended image regions from a state-of-the-art captioning system in the above Figure. As we can see, </a:t>
            </a:r>
            <a:r>
              <a:rPr lang="en-US" altLang="zh-CN" sz="1200" dirty="0"/>
              <a:t>at the time step to generate the </a:t>
            </a:r>
            <a:r>
              <a:rPr lang="en-US" altLang="zh-CN" sz="1200" dirty="0">
                <a:solidFill>
                  <a:srgbClr val="FF0000"/>
                </a:solidFill>
              </a:rPr>
              <a:t>5</a:t>
            </a:r>
            <a:r>
              <a:rPr lang="en-US" altLang="zh-CN" sz="1200" baseline="30000" dirty="0">
                <a:solidFill>
                  <a:srgbClr val="FF0000"/>
                </a:solidFill>
              </a:rPr>
              <a:t>th</a:t>
            </a:r>
            <a:r>
              <a:rPr lang="en-US" altLang="zh-CN" sz="1200" dirty="0"/>
              <a:t> word </a:t>
            </a:r>
            <a:r>
              <a:rPr lang="en-US" altLang="zh-CN" sz="1200" i="1" u="sng" dirty="0">
                <a:solidFill>
                  <a:srgbClr val="FF0000"/>
                </a:solidFill>
              </a:rPr>
              <a:t>yellow</a:t>
            </a:r>
            <a:r>
              <a:rPr lang="en-US" altLang="zh-CN" sz="1200" dirty="0"/>
              <a:t>, the attended image region is the </a:t>
            </a:r>
            <a:r>
              <a:rPr lang="en-US" altLang="zh-CN" sz="1200" i="1" u="sng" dirty="0">
                <a:solidFill>
                  <a:srgbClr val="FF0000"/>
                </a:solidFill>
              </a:rPr>
              <a:t>woman</a:t>
            </a:r>
            <a:r>
              <a:rPr lang="en-US" altLang="zh-CN" sz="1200" dirty="0"/>
              <a:t> instead of the </a:t>
            </a:r>
            <a:r>
              <a:rPr lang="en-US" altLang="zh-CN" sz="1200" i="1" u="sng" dirty="0">
                <a:solidFill>
                  <a:srgbClr val="FF0000"/>
                </a:solidFill>
              </a:rPr>
              <a:t>umbrella</a:t>
            </a:r>
            <a:r>
              <a:rPr lang="en-US" altLang="zh-CN" sz="1200" dirty="0"/>
              <a:t>. As a result, the </a:t>
            </a:r>
            <a:r>
              <a:rPr lang="en-US" altLang="zh-CN" sz="1200" dirty="0">
                <a:solidFill>
                  <a:srgbClr val="FF0000"/>
                </a:solidFill>
              </a:rPr>
              <a:t>incorrect</a:t>
            </a:r>
            <a:r>
              <a:rPr lang="en-US" altLang="zh-CN" sz="1200" dirty="0"/>
              <a:t> adjective yellow is generated rather than the </a:t>
            </a:r>
            <a:r>
              <a:rPr lang="en-US" altLang="zh-CN" sz="1200" dirty="0">
                <a:solidFill>
                  <a:srgbClr val="FF0000"/>
                </a:solidFill>
              </a:rPr>
              <a:t>correct</a:t>
            </a:r>
            <a:r>
              <a:rPr lang="en-US" altLang="zh-CN" sz="1200" dirty="0"/>
              <a:t> adjective </a:t>
            </a:r>
            <a:r>
              <a:rPr lang="en-US" altLang="zh-CN" sz="1200" i="1" u="sng" dirty="0">
                <a:solidFill>
                  <a:srgbClr val="FF0000"/>
                </a:solidFill>
              </a:rPr>
              <a:t>red</a:t>
            </a:r>
            <a:r>
              <a:rPr lang="en-US" altLang="zh-CN" sz="1200" dirty="0"/>
              <a:t>. This is mainly due to the “</a:t>
            </a:r>
            <a:r>
              <a:rPr lang="en-US" altLang="zh-CN" sz="1200" b="1" dirty="0">
                <a:solidFill>
                  <a:srgbClr val="FF0000"/>
                </a:solidFill>
              </a:rPr>
              <a:t>focus</a:t>
            </a:r>
            <a:r>
              <a:rPr lang="en-US" altLang="zh-CN" sz="1200" dirty="0"/>
              <a:t>” of the attention is “</a:t>
            </a:r>
            <a:r>
              <a:rPr lang="en-US" altLang="zh-CN" sz="1200" b="1" dirty="0">
                <a:solidFill>
                  <a:srgbClr val="FF0000"/>
                </a:solidFill>
              </a:rPr>
              <a:t>deviated</a:t>
            </a:r>
            <a:r>
              <a:rPr lang="en-US" altLang="zh-CN" sz="1200" dirty="0"/>
              <a:t>” several steps backwards and the conditioned words are </a:t>
            </a:r>
            <a:r>
              <a:rPr lang="en-US" altLang="zh-CN" sz="1200" i="1" u="sng" dirty="0">
                <a:solidFill>
                  <a:srgbClr val="FF0000"/>
                </a:solidFill>
              </a:rPr>
              <a:t>woman</a:t>
            </a:r>
            <a:r>
              <a:rPr lang="en-US" altLang="zh-CN" sz="1200" dirty="0"/>
              <a:t> and </a:t>
            </a:r>
            <a:r>
              <a:rPr lang="en-US" altLang="zh-CN" sz="1200" i="1" u="sng" dirty="0">
                <a:solidFill>
                  <a:srgbClr val="FF0000"/>
                </a:solidFill>
              </a:rPr>
              <a:t>holding.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199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200" b="0" i="0" u="none" strike="noStrike" baseline="0" dirty="0">
                <a:latin typeface="NimbusRomNo9L-Regu"/>
              </a:rPr>
              <a:t>In this paper, to address the “deviated focus” issue of current attention models, we propose the novel Prophet Attention to ground the image regions with proper generated words.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149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In the </a:t>
            </a:r>
            <a:r>
              <a:rPr lang="en-US" altLang="zh-CN" sz="1200" dirty="0">
                <a:solidFill>
                  <a:srgbClr val="FF0000"/>
                </a:solidFill>
              </a:rPr>
              <a:t>training</a:t>
            </a:r>
            <a:r>
              <a:rPr lang="en-US" altLang="zh-CN" sz="1200" dirty="0"/>
              <a:t> stage, our method utilizes the words that </a:t>
            </a:r>
            <a:r>
              <a:rPr lang="en-US" altLang="zh-CN" sz="1200" dirty="0">
                <a:solidFill>
                  <a:srgbClr val="FF0000"/>
                </a:solidFill>
              </a:rPr>
              <a:t>will be generated in the future </a:t>
            </a:r>
            <a:r>
              <a:rPr lang="en-US" altLang="zh-CN" sz="1200" dirty="0"/>
              <a:t>to calculate the “</a:t>
            </a:r>
            <a:r>
              <a:rPr lang="en-US" altLang="zh-CN" sz="1200" b="1" dirty="0">
                <a:solidFill>
                  <a:srgbClr val="FF0000"/>
                </a:solidFill>
              </a:rPr>
              <a:t>ideal</a:t>
            </a:r>
            <a:r>
              <a:rPr lang="en-US" altLang="zh-CN" sz="1200" dirty="0"/>
              <a:t>” attention weights towards image regions. These “</a:t>
            </a:r>
            <a:r>
              <a:rPr lang="en-US" altLang="zh-CN" sz="1200" b="1" dirty="0">
                <a:solidFill>
                  <a:srgbClr val="FF0000"/>
                </a:solidFill>
              </a:rPr>
              <a:t>ideal</a:t>
            </a:r>
            <a:r>
              <a:rPr lang="en-US" altLang="zh-CN" sz="1200" dirty="0"/>
              <a:t>” attention weights are further used to </a:t>
            </a:r>
            <a:r>
              <a:rPr lang="en-US" altLang="zh-CN" sz="1200" b="1" dirty="0">
                <a:solidFill>
                  <a:srgbClr val="FF0000"/>
                </a:solidFill>
              </a:rPr>
              <a:t>regularize</a:t>
            </a:r>
            <a:r>
              <a:rPr lang="en-US" altLang="zh-CN" sz="1200" dirty="0"/>
              <a:t> the “</a:t>
            </a:r>
            <a:r>
              <a:rPr lang="en-US" altLang="zh-CN" sz="1200" b="1" dirty="0">
                <a:solidFill>
                  <a:srgbClr val="FF0000"/>
                </a:solidFill>
              </a:rPr>
              <a:t>deviated</a:t>
            </a:r>
            <a:r>
              <a:rPr lang="en-US" altLang="zh-CN" sz="1200" dirty="0"/>
              <a:t>” attention, which based on the input words that </a:t>
            </a:r>
            <a:r>
              <a:rPr lang="en-US" altLang="zh-CN" sz="1200" dirty="0">
                <a:solidFill>
                  <a:srgbClr val="FF0000"/>
                </a:solidFill>
              </a:rPr>
              <a:t>have already been generated</a:t>
            </a:r>
            <a:r>
              <a:rPr lang="en-US" altLang="zh-CN" sz="1200" dirty="0"/>
              <a:t>. In this manner, image regions are grounded with the correct words. </a:t>
            </a:r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12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Thus, our Prophet Attention </a:t>
            </a:r>
            <a:r>
              <a:rPr lang="en-US" altLang="zh-CN" sz="1800" b="0" i="0" u="none" strike="noStrike" baseline="0" dirty="0">
                <a:latin typeface="NimbusRomNo9L-Regu"/>
              </a:rPr>
              <a:t>can be formulated as the above equations.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527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At first, we design the constant prophet attention, in which the </a:t>
            </a:r>
            <a:r>
              <a:rPr lang="en-US" altLang="zh-CN" sz="1200" dirty="0" err="1"/>
              <a:t>i</a:t>
            </a:r>
            <a:r>
              <a:rPr lang="en-US" altLang="zh-CN" sz="1200" dirty="0"/>
              <a:t> = j = t, the reason is that the attention weight is </a:t>
            </a:r>
            <a:r>
              <a:rPr lang="en-US" altLang="zh-CN" sz="1200" dirty="0">
                <a:solidFill>
                  <a:srgbClr val="FF0000"/>
                </a:solidFill>
              </a:rPr>
              <a:t>mainly</a:t>
            </a:r>
            <a:r>
              <a:rPr lang="en-US" altLang="zh-CN" sz="1200" dirty="0"/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determined</a:t>
            </a:r>
            <a:r>
              <a:rPr lang="en-US" altLang="zh-CN" sz="1200" dirty="0"/>
              <a:t> by the </a:t>
            </a:r>
            <a:r>
              <a:rPr lang="en-US" altLang="zh-CN" sz="1200" dirty="0">
                <a:solidFill>
                  <a:srgbClr val="FF0000"/>
                </a:solidFill>
              </a:rPr>
              <a:t>single</a:t>
            </a:r>
            <a:r>
              <a:rPr lang="en-US" altLang="zh-CN" sz="1200" dirty="0"/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word</a:t>
            </a:r>
            <a:r>
              <a:rPr lang="en-US" altLang="zh-CN" sz="1200" dirty="0"/>
              <a:t> that is to be </a:t>
            </a:r>
            <a:r>
              <a:rPr lang="en-US" altLang="zh-CN" sz="1200" dirty="0">
                <a:solidFill>
                  <a:srgbClr val="FF0000"/>
                </a:solidFill>
              </a:rPr>
              <a:t>generated</a:t>
            </a:r>
            <a:r>
              <a:rPr lang="en-US" altLang="zh-CN" sz="1200" dirty="0"/>
              <a:t> at the current time step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502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Then, we further design the dynamic prophet attention. In particular, when a word belongs to a noun phrase, we treat all the words in it as a whole phrase instead of individual words. </a:t>
            </a:r>
          </a:p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When the word is a non-visual word, we will remove our Prophet Attention model.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072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altLang="zh-CN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this section, w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 show the</a:t>
            </a:r>
            <a:r>
              <a:rPr lang="en-US" altLang="zh-CN" sz="12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e/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lu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/a/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tion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proposed approach.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1494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Following common practice, we submit our method to online MSCOCO evaluation server.</a:t>
            </a:r>
          </a:p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The results of our approach and the top-performing published works on the leaderboard are reported on the above Table. As we can see, we outperform all the works in terms of CIDEr-c40 and rank the 1st.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399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So,</a:t>
            </a:r>
            <a:r>
              <a:rPr lang="en-US" altLang="zh-CN" baseline="0" dirty="0"/>
              <a:t> the conclusions of our work are as follow:</a:t>
            </a:r>
            <a:endParaRPr lang="en-US" altLang="zh-CN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149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A4D4C-B76D-475C-B758-832A6C1CD0D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320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Thank</a:t>
            </a:r>
            <a:r>
              <a:rPr kumimoji="1" lang="en-US" altLang="zh-CN" baseline="0" dirty="0"/>
              <a:t> you! </a:t>
            </a:r>
            <a:r>
              <a:rPr lang="en-US" altLang="zh-CN" sz="1200" dirty="0"/>
              <a:t>If you have any questions about our paper, you can send an email to </a:t>
            </a:r>
            <a:r>
              <a:rPr lang="en-US" altLang="zh-CN" sz="1200" dirty="0">
                <a:solidFill>
                  <a:srgbClr val="FF0000"/>
                </a:solidFill>
              </a:rPr>
              <a:t>it.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C. Faloutsos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15-826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6403A9-0895-423F-AEE9-C4CB2D5A70B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0398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DAFA3-DA37-4679-894C-661BF8EC8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336" y="1338673"/>
            <a:ext cx="9144000" cy="2387600"/>
          </a:xfrm>
        </p:spPr>
        <p:txBody>
          <a:bodyPr lIns="36000" rIns="36000" anchor="ctr" anchorCtr="0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AF3009-14E6-476A-A1A5-2532F7D13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336" y="3818348"/>
            <a:ext cx="9144000" cy="1655762"/>
          </a:xfrm>
        </p:spPr>
        <p:txBody>
          <a:bodyPr lIns="36000" rIns="36000" anchor="ctr" anchorCtr="0"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590982-5567-4E70-969C-AB8208D9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60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A70BB-6DF9-4A96-81C9-ECE36D82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14124"/>
            <a:ext cx="10820400" cy="926419"/>
          </a:xfrm>
        </p:spPr>
        <p:txBody>
          <a:bodyPr lIns="36000" tIns="36000" rIns="36000" bIns="36000"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372EF-4749-4496-B562-EDE5E7EA9C0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3400" y="1453776"/>
            <a:ext cx="10820400" cy="4723187"/>
          </a:xfrm>
        </p:spPr>
        <p:txBody>
          <a:bodyPr lIns="36000" tIns="72000" rIns="36000" bIns="36000" anchor="t" anchorCtr="0"/>
          <a:lstStyle>
            <a:lvl1pPr marL="288000" indent="-2880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  <a:defRPr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defRPr sz="26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100000"/>
              </a:lnSpc>
              <a:buFont typeface="Wingdings" panose="05000000000000000000" pitchFamily="2" charset="2"/>
              <a:buChar char="ü"/>
              <a:defRPr sz="23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</a:p>
          <a:p>
            <a:pPr lvl="1"/>
            <a:r>
              <a:rPr lang="zh-CN" altLang="en-US" dirty="0"/>
              <a:t> 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AC343-F4DF-4FBB-A4B2-652AB760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4953D6-D4F3-4FB1-9950-59C750665C4B}"/>
              </a:ext>
            </a:extLst>
          </p:cNvPr>
          <p:cNvSpPr txBox="1"/>
          <p:nvPr userDrawn="1"/>
        </p:nvSpPr>
        <p:spPr>
          <a:xfrm>
            <a:off x="11051458" y="136525"/>
            <a:ext cx="114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PKUSZ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31899" y="561699"/>
            <a:ext cx="0" cy="529684"/>
          </a:xfrm>
          <a:prstGeom prst="line">
            <a:avLst/>
          </a:prstGeom>
          <a:ln w="69850">
            <a:solidFill>
              <a:srgbClr val="EA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99235" y="778150"/>
            <a:ext cx="0" cy="324000"/>
          </a:xfrm>
          <a:prstGeom prst="line">
            <a:avLst/>
          </a:prstGeom>
          <a:ln w="698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 rot="16200000">
            <a:off x="11941398" y="933459"/>
            <a:ext cx="0" cy="529684"/>
          </a:xfrm>
          <a:prstGeom prst="line">
            <a:avLst/>
          </a:prstGeom>
          <a:ln w="63500">
            <a:solidFill>
              <a:srgbClr val="EA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36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DA979-0F27-43DF-84E4-0D41FCA3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75014"/>
            <a:ext cx="10515600" cy="3087461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BC3DA8-61AE-42AF-BF85-90D9F27DA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806AE6-6E46-4D90-A84F-6EB94E1C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63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980CBE-44A4-4A32-BDF7-9174CFCA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93372EF-4749-4496-B562-EDE5E7EA9C0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5581" y="1453776"/>
            <a:ext cx="5486400" cy="4723187"/>
          </a:xfrm>
        </p:spPr>
        <p:txBody>
          <a:bodyPr lIns="36000" tIns="72000" rIns="36000" bIns="36000" anchor="t" anchorCtr="0"/>
          <a:lstStyle>
            <a:lvl1pPr marL="288000" indent="-2880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  <a:defRPr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defRPr sz="26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100000"/>
              </a:lnSpc>
              <a:buFont typeface="Wingdings" panose="05000000000000000000" pitchFamily="2" charset="2"/>
              <a:buChar char="ü"/>
              <a:defRPr sz="23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</a:p>
          <a:p>
            <a:pPr lvl="1"/>
            <a:r>
              <a:rPr lang="zh-CN" altLang="en-US" dirty="0"/>
              <a:t> 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593372EF-4749-4496-B562-EDE5E7EA9C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31193" y="1453776"/>
            <a:ext cx="5486400" cy="4723187"/>
          </a:xfrm>
        </p:spPr>
        <p:txBody>
          <a:bodyPr lIns="36000" tIns="72000" rIns="36000" bIns="36000" anchor="t" anchorCtr="0"/>
          <a:lstStyle>
            <a:lvl1pPr marL="288000" indent="-2880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85000"/>
              <a:buFont typeface="Wingdings" panose="05000000000000000000" pitchFamily="2" charset="2"/>
              <a:buChar char="l"/>
              <a:defRPr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defRPr sz="26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100000"/>
              </a:lnSpc>
              <a:buFont typeface="Wingdings" panose="05000000000000000000" pitchFamily="2" charset="2"/>
              <a:buChar char="ü"/>
              <a:defRPr sz="23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</a:p>
          <a:p>
            <a:pPr lvl="1"/>
            <a:r>
              <a:rPr lang="zh-CN" altLang="en-US" dirty="0"/>
              <a:t> 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D1A70BB-6DF9-4A96-81C9-ECE36D82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14124"/>
            <a:ext cx="10820400" cy="926419"/>
          </a:xfrm>
        </p:spPr>
        <p:txBody>
          <a:bodyPr lIns="36000" tIns="36000" rIns="36000" bIns="36000"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8353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5149A-14A8-47A5-AEBC-14D0DEF3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0371"/>
            <a:ext cx="10515600" cy="957943"/>
          </a:xfrm>
        </p:spPr>
        <p:txBody>
          <a:bodyPr lIns="36000" tIns="36000" rIns="36000" bIns="3600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5AA68C-672C-4B06-81F4-D27615A7E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50535"/>
            <a:ext cx="5157787" cy="637494"/>
          </a:xfrm>
        </p:spPr>
        <p:txBody>
          <a:bodyPr lIns="36000" tIns="36000" rIns="36000" bIns="3600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3192B4-DF8F-4C78-B6D2-DDDBC2DF4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54716"/>
            <a:ext cx="5157787" cy="3834947"/>
          </a:xfrm>
        </p:spPr>
        <p:txBody>
          <a:bodyPr lIns="36000" tIns="36000" rIns="36000" bIns="3600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86230E-A561-4201-8001-5CE958B17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50535"/>
            <a:ext cx="5183188" cy="637494"/>
          </a:xfrm>
        </p:spPr>
        <p:txBody>
          <a:bodyPr lIns="36000" tIns="36000" rIns="36000" bIns="3600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7AF767-09F3-4F02-92F0-6DA7E881AB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54716"/>
            <a:ext cx="5183188" cy="3834947"/>
          </a:xfrm>
        </p:spPr>
        <p:txBody>
          <a:bodyPr lIns="36000" tIns="36000" rIns="36000" bIns="3600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B8B312-3554-4AEA-9E48-E8453BEB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3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CA02B-EE0B-4003-9BAB-114AF08D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F24393-4489-4B82-B8F6-B7DE39AC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45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E33AC-BA60-4C3C-8BEC-07A88533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12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8ADC8-6390-4FC8-AB28-9A0500A0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32425-016F-4677-A890-73661FBE3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1961A8-5CAA-488E-93F8-F905203F7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771E72-9EEF-4F31-A7D3-D835D774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59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E5C37-F9EA-4396-BD85-BB0074775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2C59C4-53D1-4A73-8A84-6956C2604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905134-B895-45F2-A23C-F79DBA2A5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16FF53-6E92-4B5C-AABD-6B5E7F43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7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2B58A-0F9B-4520-8F5B-7216459F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B2C894-755B-45C9-B9F7-8CB5AB133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D02A5D-7EA2-4CD5-81FC-994B87B1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19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6632"/>
            <a:ext cx="10566400" cy="1143000"/>
          </a:xfrm>
        </p:spPr>
        <p:txBody>
          <a:bodyPr anchor="ctr" anchorCtr="0">
            <a:normAutofit/>
          </a:bodyPr>
          <a:lstStyle>
            <a:lvl1pPr algn="ctr">
              <a:defRPr sz="4000" cap="none" baseline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412776"/>
            <a:ext cx="10566400" cy="4608512"/>
          </a:xfrm>
        </p:spPr>
        <p:txBody>
          <a:bodyPr/>
          <a:lstStyle>
            <a:lvl1pPr marL="342900" indent="-342900"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sz="2800" b="1" baseline="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buClr>
                <a:srgbClr val="FFFF00"/>
              </a:buClr>
              <a:buFont typeface="Wingdings" panose="05000000000000000000" pitchFamily="2" charset="2"/>
              <a:buChar char="Ø"/>
              <a:defRPr lang="zh-CN" altLang="en-US" sz="2400" b="1" kern="1200" spc="30" baseline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>
              <a:buClr>
                <a:srgbClr val="FFFF00"/>
              </a:buClr>
              <a:buFont typeface="Wingdings" panose="05000000000000000000" pitchFamily="2" charset="2"/>
              <a:buChar char="ü"/>
              <a:defRPr lang="zh-CN" altLang="en-US" sz="2200" b="1" kern="1200" spc="30" baseline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>
              <a:buClr>
                <a:srgbClr val="FFFF00"/>
              </a:buClr>
              <a:defRPr lang="zh-CN" altLang="en-US" sz="2000" b="1" kern="1200" spc="30" baseline="0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>
              <a:buClr>
                <a:srgbClr val="FFFF00"/>
              </a:buClr>
              <a:defRPr lang="en-US" sz="1800" b="1" kern="1200" spc="30" baseline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9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337183-16D7-4F9E-8C8C-AB07B53E3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87C39-E8EB-4A11-BAF2-802F8234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1088"/>
            <a:ext cx="10515600" cy="4711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537CA-B35B-4625-8A5C-F30FA5675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8A185-547B-4CD2-B088-BB6B5FE5B7C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1219199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31899" y="669851"/>
            <a:ext cx="0" cy="529684"/>
          </a:xfrm>
          <a:prstGeom prst="line">
            <a:avLst/>
          </a:prstGeom>
          <a:ln w="69850">
            <a:solidFill>
              <a:srgbClr val="EA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99235" y="886302"/>
            <a:ext cx="0" cy="324000"/>
          </a:xfrm>
          <a:prstGeom prst="line">
            <a:avLst/>
          </a:prstGeom>
          <a:ln w="698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 rot="16200000">
            <a:off x="11941398" y="982619"/>
            <a:ext cx="0" cy="529684"/>
          </a:xfrm>
          <a:prstGeom prst="line">
            <a:avLst/>
          </a:prstGeom>
          <a:ln w="63500">
            <a:solidFill>
              <a:srgbClr val="EA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 rot="16200000">
            <a:off x="12030000" y="1145652"/>
            <a:ext cx="0" cy="324000"/>
          </a:xfrm>
          <a:prstGeom prst="line">
            <a:avLst/>
          </a:prstGeom>
          <a:ln w="635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1208313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0E031B79-2641-47F2-B93B-1B1FF5F4CE1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7325" y="6307140"/>
            <a:ext cx="1587721" cy="44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2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1338673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Prophet Attention: </a:t>
            </a:r>
            <a:br>
              <a:rPr lang="en-US" altLang="zh-CN" sz="4800" dirty="0"/>
            </a:br>
            <a:r>
              <a:rPr lang="en-US" altLang="zh-CN" sz="4800" dirty="0"/>
              <a:t>Predicting Attention with Future Attention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0" y="3361147"/>
            <a:ext cx="12192000" cy="3496853"/>
          </a:xfrm>
        </p:spPr>
        <p:txBody>
          <a:bodyPr>
            <a:norm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Fenglin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Xuancheng Ren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Xian Wu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Shen Ge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Wei Fan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Yuexian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Xu Sun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ADSPLAB, School of ECE, Peking University</a:t>
            </a:r>
          </a:p>
          <a:p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MOE Key Laboratory of Computational Linguistics, School of EECS, Peking University</a:t>
            </a:r>
          </a:p>
          <a:p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Tencent   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with Peng Cheng Laboratory, Shenzhen, China</a:t>
            </a:r>
          </a:p>
          <a:p>
            <a:endParaRPr lang="en-US" altLang="zh-C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548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453776"/>
            <a:ext cx="10820400" cy="5149247"/>
          </a:xfrm>
        </p:spPr>
        <p:txBody>
          <a:bodyPr>
            <a:normAutofit/>
          </a:bodyPr>
          <a:lstStyle/>
          <a:p>
            <a:r>
              <a:rPr lang="en-US" altLang="zh-CN" dirty="0"/>
              <a:t>Introduction</a:t>
            </a:r>
          </a:p>
          <a:p>
            <a:pPr lvl="1">
              <a:buClr>
                <a:srgbClr val="8064A2">
                  <a:lumMod val="75000"/>
                </a:srgbClr>
              </a:buClr>
            </a:pPr>
            <a:r>
              <a:rPr lang="en-US" altLang="zh-CN" dirty="0">
                <a:solidFill>
                  <a:prstClr val="black"/>
                </a:solidFill>
              </a:rPr>
              <a:t>Image Captioning</a:t>
            </a:r>
          </a:p>
          <a:p>
            <a:pPr lvl="1">
              <a:buClr>
                <a:srgbClr val="8064A2">
                  <a:lumMod val="75000"/>
                </a:srgbClr>
              </a:buClr>
            </a:pPr>
            <a:r>
              <a:rPr lang="en-US" altLang="zh-CN" dirty="0"/>
              <a:t>Conventional Attention-Enhanced Encoder-Decoder Framework</a:t>
            </a:r>
          </a:p>
          <a:p>
            <a:pPr lvl="1">
              <a:buClr>
                <a:srgbClr val="8064A2">
                  <a:lumMod val="75000"/>
                </a:srgbClr>
              </a:buClr>
            </a:pPr>
            <a:r>
              <a:rPr lang="en-US" altLang="zh-CN" dirty="0"/>
              <a:t>Motivations</a:t>
            </a:r>
          </a:p>
          <a:p>
            <a:r>
              <a:rPr lang="en-US" altLang="zh-CN" dirty="0"/>
              <a:t>Prophet Attention</a:t>
            </a:r>
          </a:p>
          <a:p>
            <a:pPr lvl="1">
              <a:buClr>
                <a:srgbClr val="8064A2">
                  <a:lumMod val="75000"/>
                </a:srgbClr>
              </a:buClr>
            </a:pPr>
            <a:r>
              <a:rPr lang="en-US" altLang="zh-CN" dirty="0"/>
              <a:t>Formulation</a:t>
            </a:r>
          </a:p>
          <a:p>
            <a:pPr lvl="1">
              <a:buClr>
                <a:srgbClr val="8064A2">
                  <a:lumMod val="75000"/>
                </a:srgbClr>
              </a:buClr>
            </a:pPr>
            <a:r>
              <a:rPr lang="en-US" altLang="zh-CN" dirty="0"/>
              <a:t>Constant Prophet Attention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zh-CN" dirty="0">
                <a:solidFill>
                  <a:prstClr val="black"/>
                </a:solidFill>
              </a:rPr>
              <a:t>+ Dynamic </a:t>
            </a:r>
            <a:r>
              <a:rPr lang="en-US" altLang="zh-CN" dirty="0"/>
              <a:t>Prophet Attention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endParaRPr lang="en-US" altLang="zh-CN" dirty="0">
              <a:solidFill>
                <a:prstClr val="black"/>
              </a:solidFill>
            </a:endParaRPr>
          </a:p>
          <a:p>
            <a:r>
              <a:rPr lang="en-US" altLang="zh-CN" dirty="0"/>
              <a:t>Experiments</a:t>
            </a:r>
          </a:p>
          <a:p>
            <a:pPr lvl="1">
              <a:buClr>
                <a:srgbClr val="8064A2">
                  <a:lumMod val="75000"/>
                </a:srgbClr>
              </a:buClr>
            </a:pPr>
            <a:r>
              <a:rPr lang="en-US" altLang="zh-CN" dirty="0"/>
              <a:t>Online Evaluation</a:t>
            </a:r>
          </a:p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9DAD48-5A5D-44F0-84DE-89E10338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3EE9-A018-4270-837F-8601F4153809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18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2461794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dirty="0"/>
              <a:t>1. Introduction </a:t>
            </a:r>
            <a:br>
              <a:rPr lang="zh-CN" altLang="en-US" dirty="0"/>
            </a:br>
            <a:endParaRPr lang="en-US" altLang="zh-CN" sz="2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54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Image Captioning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399" y="1453776"/>
            <a:ext cx="11274669" cy="1685078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Dataset: (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S</a:t>
            </a:r>
            <a:r>
              <a:rPr lang="en-US" altLang="zh-CN" dirty="0"/>
              <a:t>), where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zh-CN" altLang="en-US" dirty="0"/>
              <a:t> </a:t>
            </a:r>
            <a:r>
              <a:rPr lang="en-US" altLang="zh-CN" dirty="0"/>
              <a:t>and </a:t>
            </a:r>
            <a:r>
              <a:rPr lang="en-US" altLang="zh-CN" i="1" dirty="0">
                <a:solidFill>
                  <a:srgbClr val="FF0000"/>
                </a:solidFill>
              </a:rPr>
              <a:t>S</a:t>
            </a:r>
            <a:r>
              <a:rPr lang="en-US" altLang="zh-CN" dirty="0">
                <a:solidFill>
                  <a:srgbClr val="FF0000"/>
                </a:solidFill>
              </a:rPr>
              <a:t> ={</a:t>
            </a:r>
            <a:r>
              <a:rPr lang="en-US" altLang="zh-CN" i="1" dirty="0">
                <a:solidFill>
                  <a:srgbClr val="FF0000"/>
                </a:solidFill>
              </a:rPr>
              <a:t>s</a:t>
            </a:r>
            <a:r>
              <a:rPr lang="en-US" altLang="zh-CN" sz="14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i="1" dirty="0">
                <a:solidFill>
                  <a:srgbClr val="FF0000"/>
                </a:solidFill>
              </a:rPr>
              <a:t> s</a:t>
            </a:r>
            <a:r>
              <a:rPr lang="en-US" altLang="zh-CN" sz="14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,…,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</a:rPr>
              <a:t>s</a:t>
            </a:r>
            <a:r>
              <a:rPr lang="en-US" altLang="zh-CN" sz="1400" dirty="0" err="1">
                <a:solidFill>
                  <a:srgbClr val="FF0000"/>
                </a:solidFill>
              </a:rPr>
              <a:t>T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represent the </a:t>
            </a:r>
            <a:r>
              <a:rPr lang="en-US" altLang="zh-CN" dirty="0">
                <a:solidFill>
                  <a:srgbClr val="FF0000"/>
                </a:solidFill>
              </a:rPr>
              <a:t>input image </a:t>
            </a:r>
            <a:r>
              <a:rPr lang="en-US" altLang="zh-CN" dirty="0"/>
              <a:t>and the </a:t>
            </a:r>
            <a:r>
              <a:rPr lang="en-US" altLang="zh-CN" dirty="0">
                <a:solidFill>
                  <a:srgbClr val="FF0000"/>
                </a:solidFill>
              </a:rPr>
              <a:t>target sentence</a:t>
            </a:r>
            <a:r>
              <a:rPr lang="en-US" altLang="zh-CN" dirty="0"/>
              <a:t>, respectively.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Training Objective: The training objective is to </a:t>
            </a:r>
            <a:r>
              <a:rPr lang="en-US" altLang="zh-CN" dirty="0">
                <a:solidFill>
                  <a:srgbClr val="FF0000"/>
                </a:solidFill>
              </a:rPr>
              <a:t>minimize the cross entropy loss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9DAD48-5A5D-44F0-84DE-89E10338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3EE9-A018-4270-837F-8601F4153809}" type="slidenum">
              <a:rPr lang="en-US" altLang="zh-CN" smtClean="0"/>
              <a:pPr/>
              <a:t>4</a:t>
            </a:fld>
            <a:endParaRPr lang="en-US" altLang="zh-CN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7611" y="4707351"/>
            <a:ext cx="7132451" cy="762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55643" y="5391602"/>
            <a:ext cx="4905843" cy="974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92217" y="5723790"/>
            <a:ext cx="249461" cy="28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右箭头 11"/>
          <p:cNvSpPr/>
          <p:nvPr/>
        </p:nvSpPr>
        <p:spPr>
          <a:xfrm>
            <a:off x="5815893" y="3618962"/>
            <a:ext cx="19741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5260084" y="3616727"/>
            <a:ext cx="19741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4278CD54-E4F2-4D5C-976C-4BF0A81FD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402" y="2913379"/>
            <a:ext cx="2287520" cy="1716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圆角矩形 2">
            <a:extLst>
              <a:ext uri="{FF2B5EF4-FFF2-40B4-BE49-F238E27FC236}">
                <a16:creationId xmlns:a16="http://schemas.microsoft.com/office/drawing/2014/main" id="{94C31ADB-8BC1-48EE-987D-88078824D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3658" y="3543299"/>
            <a:ext cx="4199382" cy="527539"/>
          </a:xfrm>
          <a:prstGeom prst="roundRect">
            <a:avLst>
              <a:gd name="adj" fmla="val 9694"/>
            </a:avLst>
          </a:prstGeom>
          <a:solidFill>
            <a:srgbClr val="E5FFFF"/>
          </a:solidFill>
          <a:ln w="9525" algn="ctr">
            <a:solidFill>
              <a:srgbClr val="0070C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8574" tIns="34289" rIns="68574" bIns="34289" anchor="ctr"/>
          <a:lstStyle/>
          <a:p>
            <a:pPr defTabSz="685732">
              <a:defRPr/>
            </a:pPr>
            <a:endParaRPr lang="zh-CN" altLang="en-US" sz="1400" dirty="0">
              <a:solidFill>
                <a:prstClr val="black"/>
              </a:solidFill>
            </a:endParaRPr>
          </a:p>
        </p:txBody>
      </p:sp>
      <p:sp>
        <p:nvSpPr>
          <p:cNvPr id="17" name="矩形 1">
            <a:extLst>
              <a:ext uri="{FF2B5EF4-FFF2-40B4-BE49-F238E27FC236}">
                <a16:creationId xmlns:a16="http://schemas.microsoft.com/office/drawing/2014/main" id="{8D1D51DE-CAAB-4B22-BD00-12D5A95CC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2450" y="3464396"/>
            <a:ext cx="4700542" cy="500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4" tIns="34289" rIns="68574" bIns="34289">
            <a:spAutoFit/>
          </a:bodyPr>
          <a:lstStyle/>
          <a:p>
            <a:pPr marL="192867" indent="-192867" algn="just" defTabSz="514312">
              <a:defRPr/>
            </a:pPr>
            <a:endParaRPr lang="en-US" altLang="zh-CN" sz="1400" dirty="0">
              <a:solidFill>
                <a:prstClr val="black"/>
              </a:solidFill>
            </a:endParaRPr>
          </a:p>
          <a:p>
            <a:pPr marL="192867" indent="-192867" algn="just" defTabSz="514312">
              <a:buFont typeface="Wingdings" panose="05000000000000000000" pitchFamily="2" charset="2"/>
              <a:buChar char="ü"/>
              <a:defRPr/>
            </a:pPr>
            <a:r>
              <a:rPr lang="en-US" altLang="zh-CN" sz="1400" dirty="0">
                <a:solidFill>
                  <a:prstClr val="black"/>
                </a:solidFill>
              </a:rPr>
              <a:t>A group of people gathered to watch a man perform.</a:t>
            </a:r>
          </a:p>
        </p:txBody>
      </p:sp>
      <p:sp>
        <p:nvSpPr>
          <p:cNvPr id="18" name="梯形 17"/>
          <p:cNvSpPr/>
          <p:nvPr/>
        </p:nvSpPr>
        <p:spPr>
          <a:xfrm rot="5400000">
            <a:off x="4424803" y="3609807"/>
            <a:ext cx="1325880" cy="324644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 rot="5400000">
            <a:off x="4428815" y="3623266"/>
            <a:ext cx="1325880" cy="3000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1500" b="1" dirty="0"/>
              <a:t>Encoder</a:t>
            </a:r>
            <a:endParaRPr lang="zh-CN" altLang="en-US" sz="1500" b="1" dirty="0"/>
          </a:p>
        </p:txBody>
      </p:sp>
      <p:sp>
        <p:nvSpPr>
          <p:cNvPr id="20" name="右箭头 19"/>
          <p:cNvSpPr/>
          <p:nvPr/>
        </p:nvSpPr>
        <p:spPr>
          <a:xfrm>
            <a:off x="4712055" y="3610170"/>
            <a:ext cx="197419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1" name="梯形 20"/>
          <p:cNvSpPr/>
          <p:nvPr/>
        </p:nvSpPr>
        <p:spPr>
          <a:xfrm rot="5400000">
            <a:off x="4990631" y="3619775"/>
            <a:ext cx="1325880" cy="324644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 rot="5400000">
            <a:off x="4994642" y="3632058"/>
            <a:ext cx="1325879" cy="3000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1500" b="1" dirty="0"/>
              <a:t>Decoder</a:t>
            </a:r>
            <a:endParaRPr lang="zh-CN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230918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Attention-Enhanced Encoder-Decoder Framework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CFDD99-200B-4EB5-9839-E2AD42294B9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2019/2020 S2 PR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9DAD48-5A5D-44F0-84DE-89E10338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3EE9-A018-4270-837F-8601F4153809}" type="slidenum">
              <a:rPr lang="en-US" altLang="zh-CN" smtClean="0"/>
              <a:pPr/>
              <a:t>5</a:t>
            </a:fld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9615" y="1257300"/>
            <a:ext cx="2769577" cy="539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矩形 23"/>
          <p:cNvSpPr/>
          <p:nvPr/>
        </p:nvSpPr>
        <p:spPr>
          <a:xfrm>
            <a:off x="2716823" y="1828800"/>
            <a:ext cx="465992" cy="9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895601" y="2587865"/>
            <a:ext cx="234462" cy="9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内容占位符 2"/>
          <p:cNvSpPr>
            <a:spLocks noGrp="1"/>
          </p:cNvSpPr>
          <p:nvPr>
            <p:ph idx="1"/>
          </p:nvPr>
        </p:nvSpPr>
        <p:spPr>
          <a:xfrm>
            <a:off x="3332285" y="1591025"/>
            <a:ext cx="7016771" cy="433499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Visual Encoder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Decoder-Input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>
              <a:buNone/>
            </a:pP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Decoder-Attention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Decoder-Output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Cross Entropy Loss: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50669" y="2466854"/>
            <a:ext cx="1960272" cy="45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6112" y="1709068"/>
            <a:ext cx="3574073" cy="31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35870" y="2558325"/>
            <a:ext cx="3954449" cy="395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95644" y="3462995"/>
            <a:ext cx="5996356" cy="304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205539" y="3836326"/>
            <a:ext cx="1153623" cy="379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1577" y="4336270"/>
            <a:ext cx="4143008" cy="34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60389" y="4995245"/>
            <a:ext cx="4422265" cy="878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251098" y="5319346"/>
            <a:ext cx="228681" cy="232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09184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8044" y="1889171"/>
            <a:ext cx="8693956" cy="440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Motivations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2019/2020 S2 PR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9615" y="1257300"/>
            <a:ext cx="2769577" cy="539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10075986" y="1811214"/>
            <a:ext cx="395654" cy="509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155223" y="1822937"/>
            <a:ext cx="339969" cy="509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3346939" y="2558177"/>
            <a:ext cx="8845061" cy="2040199"/>
          </a:xfrm>
          <a:prstGeom prst="rect">
            <a:avLst/>
          </a:prstGeom>
        </p:spPr>
        <p:txBody>
          <a:bodyPr vert="horz" lIns="36000" tIns="72000" rIns="36000" bIns="36000" rtlCol="0" anchor="t" anchorCtr="0">
            <a:normAutofit/>
          </a:bodyPr>
          <a:lstStyle/>
          <a:p>
            <a:endParaRPr lang="zh-CN" altLang="en-US" sz="2400" dirty="0"/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3499339" y="2710577"/>
            <a:ext cx="8692661" cy="414742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dirty="0"/>
              <a:t>Many sequence-to-sequence learning systems, including machine translation, have proven the importance of the attention mechanism in generating meaningful sentences.  </a:t>
            </a:r>
            <a:r>
              <a:rPr lang="en-US" altLang="zh-CN" sz="2400" dirty="0">
                <a:solidFill>
                  <a:srgbClr val="FF0000"/>
                </a:solidFill>
              </a:rPr>
              <a:t>Especially for image captioning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the attention model can ground the salient image regions to generate the next word in the sentence.</a:t>
            </a:r>
            <a:endParaRPr lang="en-US" altLang="zh-CN" sz="2400" dirty="0"/>
          </a:p>
          <a:p>
            <a:r>
              <a:rPr lang="en-US" altLang="zh-CN" sz="2400" dirty="0"/>
              <a:t>Current attention model </a:t>
            </a:r>
            <a:r>
              <a:rPr lang="en-US" altLang="zh-CN" sz="2400" dirty="0">
                <a:solidFill>
                  <a:srgbClr val="FF0000"/>
                </a:solidFill>
              </a:rPr>
              <a:t>attends</a:t>
            </a:r>
            <a:r>
              <a:rPr lang="en-US" altLang="zh-CN" sz="2400" dirty="0"/>
              <a:t> to image regions based on </a:t>
            </a:r>
            <a:r>
              <a:rPr lang="en-US" altLang="zh-CN" sz="2400" dirty="0">
                <a:solidFill>
                  <a:srgbClr val="FF0000"/>
                </a:solidFill>
              </a:rPr>
              <a:t>current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hidden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state</a:t>
            </a:r>
            <a:r>
              <a:rPr lang="en-US" altLang="zh-CN" sz="2400" dirty="0"/>
              <a:t>, which contains the information of </a:t>
            </a:r>
            <a:r>
              <a:rPr lang="en-US" altLang="zh-CN" sz="2400" dirty="0">
                <a:solidFill>
                  <a:srgbClr val="FF0000"/>
                </a:solidFill>
              </a:rPr>
              <a:t>past generated words</a:t>
            </a:r>
            <a:r>
              <a:rPr lang="en-US" altLang="zh-CN" sz="2400" dirty="0"/>
              <a:t>. It</a:t>
            </a:r>
            <a:r>
              <a:rPr lang="zh-CN" altLang="en-US" sz="2400" dirty="0"/>
              <a:t> </a:t>
            </a:r>
            <a:r>
              <a:rPr lang="en-US" altLang="zh-CN" sz="2400" dirty="0"/>
              <a:t>means</a:t>
            </a:r>
            <a:r>
              <a:rPr lang="zh-CN" altLang="en-US" sz="2400" dirty="0"/>
              <a:t> </a:t>
            </a:r>
            <a:r>
              <a:rPr lang="en-US" altLang="zh-CN" sz="2400" dirty="0"/>
              <a:t>that the attention model has to </a:t>
            </a:r>
            <a:r>
              <a:rPr lang="en-US" altLang="zh-CN" sz="2400" dirty="0">
                <a:solidFill>
                  <a:srgbClr val="FF0000"/>
                </a:solidFill>
              </a:rPr>
              <a:t>predict attention weights without knowing the word it should ground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Thus we find that current attention models have a “</a:t>
            </a:r>
            <a:r>
              <a:rPr lang="en-US" altLang="zh-CN" sz="2400" b="1" dirty="0">
                <a:solidFill>
                  <a:srgbClr val="FF0000"/>
                </a:solidFill>
              </a:rPr>
              <a:t>deviated focus</a:t>
            </a:r>
            <a:r>
              <a:rPr lang="en-US" altLang="zh-CN" sz="2400" b="1" dirty="0"/>
              <a:t>”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problem, that they calculate the attention weights based on </a:t>
            </a:r>
            <a:r>
              <a:rPr lang="en-US" altLang="zh-CN" sz="2400" dirty="0">
                <a:solidFill>
                  <a:srgbClr val="FF0000"/>
                </a:solidFill>
              </a:rPr>
              <a:t>previous words </a:t>
            </a:r>
            <a:r>
              <a:rPr lang="en-US" altLang="zh-CN" sz="2400" dirty="0"/>
              <a:t>instead of the </a:t>
            </a:r>
            <a:r>
              <a:rPr lang="en-US" altLang="zh-CN" sz="2400" dirty="0">
                <a:solidFill>
                  <a:srgbClr val="FF0000"/>
                </a:solidFill>
              </a:rPr>
              <a:t>one to be generated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impairing</a:t>
            </a:r>
            <a:r>
              <a:rPr lang="en-US" altLang="zh-CN" sz="2400" dirty="0"/>
              <a:t> the performance of both grounding and captioning.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3346939" y="2558177"/>
            <a:ext cx="8845061" cy="2040199"/>
          </a:xfrm>
          <a:prstGeom prst="rect">
            <a:avLst/>
          </a:prstGeom>
        </p:spPr>
        <p:txBody>
          <a:bodyPr vert="horz" lIns="36000" tIns="72000" rIns="36000" bIns="36000" rtlCol="0" anchor="t" anchorCtr="0">
            <a:normAutofit/>
          </a:bodyPr>
          <a:lstStyle/>
          <a:p>
            <a:endParaRPr lang="zh-CN" altLang="en-US" sz="2400" dirty="0"/>
          </a:p>
        </p:txBody>
      </p:sp>
      <p:sp>
        <p:nvSpPr>
          <p:cNvPr id="16" name="内容占位符 2"/>
          <p:cNvSpPr>
            <a:spLocks noGrp="1"/>
          </p:cNvSpPr>
          <p:nvPr>
            <p:ph idx="1"/>
          </p:nvPr>
        </p:nvSpPr>
        <p:spPr>
          <a:xfrm>
            <a:off x="0" y="5134707"/>
            <a:ext cx="12192000" cy="1468315"/>
          </a:xfrm>
        </p:spPr>
        <p:txBody>
          <a:bodyPr>
            <a:normAutofit lnSpcReduction="10000"/>
          </a:bodyPr>
          <a:lstStyle/>
          <a:p>
            <a:r>
              <a:rPr lang="en-US" altLang="zh-CN" sz="2400" dirty="0"/>
              <a:t>At the time step to generate the 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en-US" altLang="zh-CN" sz="2400" baseline="30000" dirty="0">
                <a:solidFill>
                  <a:srgbClr val="FF0000"/>
                </a:solidFill>
              </a:rPr>
              <a:t>th</a:t>
            </a:r>
            <a:r>
              <a:rPr lang="en-US" altLang="zh-CN" sz="2400" dirty="0"/>
              <a:t> word </a:t>
            </a:r>
            <a:r>
              <a:rPr lang="en-US" altLang="zh-CN" sz="2400" i="1" u="sng" dirty="0">
                <a:solidFill>
                  <a:srgbClr val="FF0000"/>
                </a:solidFill>
              </a:rPr>
              <a:t>yellow</a:t>
            </a:r>
            <a:r>
              <a:rPr lang="en-US" altLang="zh-CN" sz="2400" dirty="0"/>
              <a:t>, the attended image region is the </a:t>
            </a:r>
            <a:r>
              <a:rPr lang="en-US" altLang="zh-CN" sz="2400" i="1" u="sng" dirty="0">
                <a:solidFill>
                  <a:srgbClr val="FF0000"/>
                </a:solidFill>
              </a:rPr>
              <a:t>woman</a:t>
            </a:r>
            <a:r>
              <a:rPr lang="en-US" altLang="zh-CN" sz="2400" dirty="0"/>
              <a:t> instead of the </a:t>
            </a:r>
            <a:r>
              <a:rPr lang="en-US" altLang="zh-CN" sz="2400" i="1" u="sng" dirty="0">
                <a:solidFill>
                  <a:srgbClr val="FF0000"/>
                </a:solidFill>
              </a:rPr>
              <a:t>umbrella</a:t>
            </a:r>
            <a:r>
              <a:rPr lang="en-US" altLang="zh-CN" sz="2400" dirty="0"/>
              <a:t>. As a result, the </a:t>
            </a:r>
            <a:r>
              <a:rPr lang="en-US" altLang="zh-CN" sz="2400" dirty="0">
                <a:solidFill>
                  <a:srgbClr val="FF0000"/>
                </a:solidFill>
              </a:rPr>
              <a:t>incorrect</a:t>
            </a:r>
            <a:r>
              <a:rPr lang="en-US" altLang="zh-CN" sz="2400" dirty="0"/>
              <a:t> adjective yellow is generated rather than the </a:t>
            </a:r>
            <a:r>
              <a:rPr lang="en-US" altLang="zh-CN" sz="2400" dirty="0">
                <a:solidFill>
                  <a:srgbClr val="FF0000"/>
                </a:solidFill>
              </a:rPr>
              <a:t>correct</a:t>
            </a:r>
            <a:r>
              <a:rPr lang="en-US" altLang="zh-CN" sz="2400" dirty="0"/>
              <a:t> adjective </a:t>
            </a:r>
            <a:r>
              <a:rPr lang="en-US" altLang="zh-CN" sz="2400" i="1" u="sng" dirty="0">
                <a:solidFill>
                  <a:srgbClr val="FF0000"/>
                </a:solidFill>
              </a:rPr>
              <a:t>red</a:t>
            </a:r>
            <a:r>
              <a:rPr lang="en-US" altLang="zh-CN" sz="2400" dirty="0"/>
              <a:t>. This is mainly due to the “</a:t>
            </a:r>
            <a:r>
              <a:rPr lang="en-US" altLang="zh-CN" sz="2400" b="1" dirty="0">
                <a:solidFill>
                  <a:srgbClr val="FF0000"/>
                </a:solidFill>
              </a:rPr>
              <a:t>focus</a:t>
            </a:r>
            <a:r>
              <a:rPr lang="en-US" altLang="zh-CN" sz="2400" dirty="0"/>
              <a:t>” of the attention is “</a:t>
            </a:r>
            <a:r>
              <a:rPr lang="en-US" altLang="zh-CN" sz="2400" b="1" dirty="0">
                <a:solidFill>
                  <a:srgbClr val="FF0000"/>
                </a:solidFill>
              </a:rPr>
              <a:t>deviated</a:t>
            </a:r>
            <a:r>
              <a:rPr lang="en-US" altLang="zh-CN" sz="2400" dirty="0"/>
              <a:t>” several steps backwards and the conditioned words are </a:t>
            </a:r>
            <a:r>
              <a:rPr lang="en-US" altLang="zh-CN" sz="2400" i="1" u="sng" dirty="0">
                <a:solidFill>
                  <a:srgbClr val="FF0000"/>
                </a:solidFill>
              </a:rPr>
              <a:t>woman</a:t>
            </a:r>
            <a:r>
              <a:rPr lang="en-US" altLang="zh-CN" sz="2400" dirty="0"/>
              <a:t> and </a:t>
            </a:r>
            <a:r>
              <a:rPr lang="en-US" altLang="zh-CN" sz="2400" i="1" u="sng" dirty="0">
                <a:solidFill>
                  <a:srgbClr val="FF0000"/>
                </a:solidFill>
              </a:rPr>
              <a:t>holding</a:t>
            </a:r>
            <a:r>
              <a:rPr lang="en-US" altLang="zh-CN" sz="2400" dirty="0"/>
              <a:t>;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491" y="1307124"/>
            <a:ext cx="11567502" cy="3824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7142285" y="1330567"/>
            <a:ext cx="1491761" cy="1817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2461794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dirty="0"/>
              <a:t>2. Prophet Attention</a:t>
            </a:r>
            <a:br>
              <a:rPr lang="zh-CN" altLang="en-US" dirty="0"/>
            </a:br>
            <a:endParaRPr lang="en-US" altLang="zh-CN" sz="2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548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Approach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1" y="1300877"/>
            <a:ext cx="12192000" cy="429982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In the </a:t>
            </a:r>
            <a:r>
              <a:rPr lang="en-US" altLang="zh-CN" sz="2400" dirty="0">
                <a:solidFill>
                  <a:srgbClr val="FF0000"/>
                </a:solidFill>
              </a:rPr>
              <a:t>training</a:t>
            </a:r>
            <a:r>
              <a:rPr lang="en-US" altLang="zh-CN" sz="2400" dirty="0"/>
              <a:t> stage, our method utilizes the words that </a:t>
            </a:r>
            <a:r>
              <a:rPr lang="en-US" altLang="zh-CN" sz="2400" dirty="0">
                <a:solidFill>
                  <a:srgbClr val="FF0000"/>
                </a:solidFill>
              </a:rPr>
              <a:t>will be generated in the future </a:t>
            </a:r>
            <a:r>
              <a:rPr lang="en-US" altLang="zh-CN" sz="2400" dirty="0"/>
              <a:t>to calculate the “</a:t>
            </a:r>
            <a:r>
              <a:rPr lang="en-US" altLang="zh-CN" sz="2400" b="1" dirty="0">
                <a:solidFill>
                  <a:srgbClr val="FF0000"/>
                </a:solidFill>
              </a:rPr>
              <a:t>ideal</a:t>
            </a:r>
            <a:r>
              <a:rPr lang="en-US" altLang="zh-CN" sz="2400" dirty="0"/>
              <a:t>” attention weights towards image regions. These “</a:t>
            </a:r>
            <a:r>
              <a:rPr lang="en-US" altLang="zh-CN" sz="2400" b="1" dirty="0">
                <a:solidFill>
                  <a:srgbClr val="FF0000"/>
                </a:solidFill>
              </a:rPr>
              <a:t>ideal</a:t>
            </a:r>
            <a:r>
              <a:rPr lang="en-US" altLang="zh-CN" sz="2400" dirty="0"/>
              <a:t>” attention weights are further used to </a:t>
            </a:r>
            <a:r>
              <a:rPr lang="en-US" altLang="zh-CN" sz="2400" b="1" dirty="0">
                <a:solidFill>
                  <a:srgbClr val="FF0000"/>
                </a:solidFill>
              </a:rPr>
              <a:t>regularize</a:t>
            </a:r>
            <a:r>
              <a:rPr lang="en-US" altLang="zh-CN" sz="2400" dirty="0"/>
              <a:t> the “</a:t>
            </a:r>
            <a:r>
              <a:rPr lang="en-US" altLang="zh-CN" sz="2400" b="1" dirty="0">
                <a:solidFill>
                  <a:srgbClr val="FF0000"/>
                </a:solidFill>
              </a:rPr>
              <a:t>deviated</a:t>
            </a:r>
            <a:r>
              <a:rPr lang="en-US" altLang="zh-CN" sz="2400" dirty="0"/>
              <a:t>” attention, which based on the input words that </a:t>
            </a:r>
            <a:r>
              <a:rPr lang="en-US" altLang="zh-CN" sz="2400" dirty="0">
                <a:solidFill>
                  <a:srgbClr val="FF0000"/>
                </a:solidFill>
              </a:rPr>
              <a:t>have already been generated</a:t>
            </a:r>
            <a:r>
              <a:rPr lang="en-US" altLang="zh-CN" sz="2400" dirty="0"/>
              <a:t>. In this manner, image regions are grounded with the correct words. 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569FAD-4E75-4911-96BA-343138315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2880036"/>
            <a:ext cx="8242300" cy="3977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31DE6FD-BBD9-4CA2-808B-457718C11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587" y="1933552"/>
            <a:ext cx="521730" cy="4643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Formulation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0" y="1309841"/>
            <a:ext cx="11896165" cy="535990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“</a:t>
            </a:r>
            <a:r>
              <a:rPr lang="en-US" altLang="zh-CN" sz="2400" b="1" dirty="0">
                <a:solidFill>
                  <a:srgbClr val="FF0000"/>
                </a:solidFill>
              </a:rPr>
              <a:t>Deviated</a:t>
            </a:r>
            <a:r>
              <a:rPr lang="en-US" altLang="zh-CN" sz="2400" dirty="0"/>
              <a:t>” weights:</a:t>
            </a:r>
          </a:p>
          <a:p>
            <a:endParaRPr lang="en-US" altLang="zh-CN" sz="700" dirty="0"/>
          </a:p>
          <a:p>
            <a:r>
              <a:rPr lang="en-US" altLang="zh-CN" sz="2400" dirty="0"/>
              <a:t>“</a:t>
            </a:r>
            <a:r>
              <a:rPr lang="en-US" altLang="zh-CN" sz="2400" b="1" dirty="0">
                <a:solidFill>
                  <a:srgbClr val="FF0000"/>
                </a:solidFill>
              </a:rPr>
              <a:t>Ideal</a:t>
            </a:r>
            <a:r>
              <a:rPr lang="en-US" altLang="zh-CN" sz="2400" dirty="0"/>
              <a:t>” weights: </a:t>
            </a:r>
          </a:p>
          <a:p>
            <a:endParaRPr lang="en-US" altLang="zh-CN" sz="5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Regularization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185692" y="2149114"/>
            <a:ext cx="573741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815" y="2387090"/>
            <a:ext cx="2791945" cy="81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64557" y="1376588"/>
            <a:ext cx="7297271" cy="36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78144" y="2131316"/>
            <a:ext cx="207718" cy="359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9D68AA4-F57F-4540-9530-A3538E5BD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8329" y="3225463"/>
            <a:ext cx="7297272" cy="35218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BA1055D-9FE3-482B-B690-C4CFA4763D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0386" y="2007345"/>
            <a:ext cx="1629363" cy="3688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BE6E6AC-3ED4-45C6-8703-84EC39CFDD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6965" y="1717085"/>
            <a:ext cx="5527072" cy="864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237392" y="1459138"/>
            <a:ext cx="11954608" cy="524060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Since the attention weight is </a:t>
            </a:r>
            <a:r>
              <a:rPr lang="en-US" altLang="zh-CN" sz="2400" dirty="0">
                <a:solidFill>
                  <a:srgbClr val="FF0000"/>
                </a:solidFill>
              </a:rPr>
              <a:t>mainly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determined</a:t>
            </a:r>
            <a:r>
              <a:rPr lang="en-US" altLang="zh-CN" sz="2400" dirty="0"/>
              <a:t> by the </a:t>
            </a:r>
            <a:r>
              <a:rPr lang="en-US" altLang="zh-CN" sz="2400" dirty="0">
                <a:solidFill>
                  <a:srgbClr val="FF0000"/>
                </a:solidFill>
              </a:rPr>
              <a:t>single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en-US" altLang="zh-CN" sz="2400" dirty="0"/>
              <a:t> that is to be </a:t>
            </a:r>
            <a:r>
              <a:rPr lang="en-US" altLang="zh-CN" sz="2400" dirty="0">
                <a:solidFill>
                  <a:srgbClr val="FF0000"/>
                </a:solidFill>
              </a:rPr>
              <a:t>generated</a:t>
            </a:r>
            <a:r>
              <a:rPr lang="en-US" altLang="zh-CN" sz="2400" dirty="0"/>
              <a:t> at the current time step, the intuition is to set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 = j = t</a:t>
            </a:r>
            <a:r>
              <a:rPr lang="en-US" altLang="zh-CN" sz="2400" dirty="0"/>
              <a:t>. In this manner, the CPA only uses the word </a:t>
            </a:r>
            <a:r>
              <a:rPr lang="en-US" altLang="zh-CN" sz="2400" dirty="0" err="1">
                <a:solidFill>
                  <a:srgbClr val="FF0000"/>
                </a:solidFill>
              </a:rPr>
              <a:t>y</a:t>
            </a:r>
            <a:r>
              <a:rPr lang="en-US" altLang="zh-CN" sz="2400" baseline="-25000" dirty="0" err="1">
                <a:solidFill>
                  <a:srgbClr val="FF0000"/>
                </a:solidFill>
              </a:rPr>
              <a:t>t</a:t>
            </a:r>
            <a:r>
              <a:rPr lang="en-US" altLang="zh-CN" sz="2400" dirty="0"/>
              <a:t> to be generated to calculate the </a:t>
            </a:r>
            <a:r>
              <a:rPr lang="en-US" altLang="zh-CN" sz="2400" b="1" dirty="0">
                <a:solidFill>
                  <a:srgbClr val="FF0000"/>
                </a:solidFill>
              </a:rPr>
              <a:t>ideal </a:t>
            </a:r>
            <a:r>
              <a:rPr lang="en-US" altLang="zh-CN" sz="2400" dirty="0"/>
              <a:t>attention weights:</a:t>
            </a:r>
          </a:p>
          <a:p>
            <a:endParaRPr lang="en-US" altLang="zh-CN" sz="2400" dirty="0"/>
          </a:p>
          <a:p>
            <a:pPr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b="1" dirty="0"/>
              <a:t>Confusing Attended Image Regions:</a:t>
            </a:r>
            <a:r>
              <a:rPr lang="en-US" altLang="zh-CN" sz="2400" dirty="0"/>
              <a:t> “</a:t>
            </a:r>
            <a:r>
              <a:rPr lang="en-US" altLang="zh-CN" sz="2400" i="1" u="sng" dirty="0">
                <a:solidFill>
                  <a:srgbClr val="FF0000"/>
                </a:solidFill>
              </a:rPr>
              <a:t>black</a:t>
            </a:r>
            <a:r>
              <a:rPr lang="en-US" altLang="zh-CN" sz="2400" dirty="0"/>
              <a:t> ” for the “</a:t>
            </a:r>
            <a:r>
              <a:rPr lang="en-US" altLang="zh-CN" sz="2400" i="1" u="sng" dirty="0">
                <a:solidFill>
                  <a:srgbClr val="FF0000"/>
                </a:solidFill>
              </a:rPr>
              <a:t>a</a:t>
            </a:r>
            <a:r>
              <a:rPr lang="en-US" altLang="zh-CN" sz="2400" u="sng" dirty="0">
                <a:solidFill>
                  <a:srgbClr val="FF0000"/>
                </a:solidFill>
              </a:rPr>
              <a:t> </a:t>
            </a:r>
            <a:r>
              <a:rPr lang="en-US" altLang="zh-CN" sz="2400" i="1" u="sng" dirty="0">
                <a:solidFill>
                  <a:srgbClr val="FF0000"/>
                </a:solidFill>
              </a:rPr>
              <a:t>black shirt</a:t>
            </a:r>
            <a:r>
              <a:rPr lang="en-US" altLang="zh-CN" sz="2400" dirty="0"/>
              <a:t>”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and “</a:t>
            </a:r>
            <a:r>
              <a:rPr lang="en-US" altLang="zh-CN" sz="2400" i="1" u="sng" dirty="0">
                <a:solidFill>
                  <a:srgbClr val="FF0000"/>
                </a:solidFill>
              </a:rPr>
              <a:t>black pants</a:t>
            </a:r>
            <a:r>
              <a:rPr lang="en-US" altLang="zh-CN" sz="2400" dirty="0"/>
              <a:t>”.</a:t>
            </a:r>
          </a:p>
          <a:p>
            <a:r>
              <a:rPr lang="en-US" altLang="zh-CN" sz="2400" b="1" dirty="0"/>
              <a:t>Non-Visual Word: </a:t>
            </a:r>
            <a:r>
              <a:rPr lang="en-US" altLang="zh-CN" sz="2400" dirty="0"/>
              <a:t>e.g., </a:t>
            </a:r>
            <a:r>
              <a:rPr lang="en-US" altLang="zh-CN" sz="2400" i="1" u="sng" dirty="0">
                <a:solidFill>
                  <a:srgbClr val="FF0000"/>
                </a:solidFill>
              </a:rPr>
              <a:t>of</a:t>
            </a:r>
            <a:r>
              <a:rPr lang="en-US" altLang="zh-CN" sz="2400" dirty="0"/>
              <a:t> and </a:t>
            </a:r>
            <a:r>
              <a:rPr lang="en-US" altLang="zh-CN" sz="2400" i="1" u="sng" dirty="0">
                <a:solidFill>
                  <a:srgbClr val="FF0000"/>
                </a:solidFill>
              </a:rPr>
              <a:t>the</a:t>
            </a:r>
            <a:r>
              <a:rPr lang="en-US" altLang="zh-CN" sz="2400" dirty="0"/>
              <a:t>,  -&gt; </a:t>
            </a:r>
            <a:r>
              <a:rPr lang="en-US" altLang="zh-CN" sz="2400" dirty="0">
                <a:solidFill>
                  <a:srgbClr val="FF0000"/>
                </a:solidFill>
              </a:rPr>
              <a:t>no suitable </a:t>
            </a:r>
            <a:r>
              <a:rPr lang="en-US" altLang="zh-CN" sz="2400" dirty="0"/>
              <a:t>visual information at all -&gt; </a:t>
            </a:r>
            <a:r>
              <a:rPr lang="en-US" altLang="zh-CN" sz="2400" dirty="0">
                <a:solidFill>
                  <a:srgbClr val="FF0000"/>
                </a:solidFill>
              </a:rPr>
              <a:t>remove</a:t>
            </a:r>
            <a:r>
              <a:rPr lang="en-US" altLang="zh-CN" sz="2400" dirty="0"/>
              <a:t> (mask) the Prophet Attention -&gt; </a:t>
            </a:r>
            <a:r>
              <a:rPr lang="en-US" altLang="zh-CN" sz="2400" dirty="0">
                <a:solidFill>
                  <a:srgbClr val="FF0000"/>
                </a:solidFill>
              </a:rPr>
              <a:t>prevent</a:t>
            </a:r>
            <a:r>
              <a:rPr lang="en-US" altLang="zh-CN" sz="2400" dirty="0"/>
              <a:t> it from </a:t>
            </a:r>
            <a:r>
              <a:rPr lang="en-US" altLang="zh-CN" sz="2400" dirty="0">
                <a:solidFill>
                  <a:srgbClr val="FF0000"/>
                </a:solidFill>
              </a:rPr>
              <a:t>affecting</a:t>
            </a:r>
            <a:r>
              <a:rPr lang="en-US" altLang="zh-CN" sz="2400" dirty="0"/>
              <a:t> the learning of the captioning model.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64F3EE-343B-495F-9497-77A7950C6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961" y="2997816"/>
            <a:ext cx="6465277" cy="6066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Constant Prophet Attention (CPA)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Dynamic Prophet Attention (DPA)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237392" y="1327254"/>
            <a:ext cx="11954608" cy="5530745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Confusing Attended Image Regions:</a:t>
            </a:r>
            <a:r>
              <a:rPr lang="en-US" altLang="zh-CN" sz="2400" dirty="0"/>
              <a:t> </a:t>
            </a:r>
            <a:r>
              <a:rPr lang="en-US" altLang="zh-CN" sz="2400" i="1" u="sng" dirty="0">
                <a:solidFill>
                  <a:srgbClr val="FF0000"/>
                </a:solidFill>
              </a:rPr>
              <a:t>a black shirt</a:t>
            </a:r>
            <a:r>
              <a:rPr lang="en-US" altLang="zh-CN" sz="2400" dirty="0"/>
              <a:t> -&gt; a </a:t>
            </a:r>
            <a:r>
              <a:rPr lang="en-US" altLang="zh-CN" sz="2400" dirty="0">
                <a:solidFill>
                  <a:srgbClr val="FF0000"/>
                </a:solidFill>
              </a:rPr>
              <a:t>whole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phrase</a:t>
            </a:r>
            <a:r>
              <a:rPr lang="en-US" altLang="zh-CN" sz="2400" dirty="0"/>
              <a:t> instead of </a:t>
            </a:r>
            <a:r>
              <a:rPr lang="en-US" altLang="zh-CN" sz="2400" dirty="0">
                <a:solidFill>
                  <a:srgbClr val="FF0000"/>
                </a:solidFill>
              </a:rPr>
              <a:t>individual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words</a:t>
            </a:r>
            <a:r>
              <a:rPr lang="en-US" altLang="zh-CN" sz="2400" dirty="0"/>
              <a:t> -&gt; 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t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belongs to </a:t>
            </a:r>
            <a:r>
              <a:rPr lang="en-US" altLang="zh-CN" sz="2400" dirty="0">
                <a:solidFill>
                  <a:srgbClr val="FF0000"/>
                </a:solidFill>
              </a:rPr>
              <a:t>a noun phrase </a:t>
            </a:r>
            <a:r>
              <a:rPr lang="en-US" altLang="zh-CN" sz="2400" dirty="0"/>
              <a:t>(NP) -&gt; adopt all the words in the noun phrase to calculate the </a:t>
            </a:r>
            <a:r>
              <a:rPr lang="en-US" altLang="zh-CN" sz="2400" b="1" dirty="0">
                <a:solidFill>
                  <a:srgbClr val="FF0000"/>
                </a:solidFill>
              </a:rPr>
              <a:t>ideal</a:t>
            </a:r>
            <a:r>
              <a:rPr lang="en-US" altLang="zh-CN" sz="2400" dirty="0"/>
              <a:t> attention weights. </a:t>
            </a:r>
          </a:p>
          <a:p>
            <a:r>
              <a:rPr lang="en-US" altLang="zh-CN" sz="2400" b="1" dirty="0"/>
              <a:t>Non-Visual Word: </a:t>
            </a:r>
            <a:r>
              <a:rPr lang="en-US" altLang="zh-CN" sz="2400" dirty="0">
                <a:solidFill>
                  <a:srgbClr val="FF0000"/>
                </a:solidFill>
              </a:rPr>
              <a:t>non-visual</a:t>
            </a:r>
            <a:r>
              <a:rPr lang="en-US" altLang="zh-CN" sz="2400" dirty="0"/>
              <a:t> (NV) word -&gt; </a:t>
            </a:r>
            <a:r>
              <a:rPr lang="en-US" altLang="zh-CN" sz="2400" dirty="0">
                <a:solidFill>
                  <a:srgbClr val="FF0000"/>
                </a:solidFill>
              </a:rPr>
              <a:t>remove</a:t>
            </a:r>
            <a:r>
              <a:rPr lang="en-US" altLang="zh-CN" sz="2400" dirty="0"/>
              <a:t> (mask) Prophet Attention -&gt; </a:t>
            </a:r>
            <a:r>
              <a:rPr lang="en-US" altLang="zh-CN" sz="2400" dirty="0">
                <a:solidFill>
                  <a:srgbClr val="FF0000"/>
                </a:solidFill>
              </a:rPr>
              <a:t>λ = 0</a:t>
            </a:r>
            <a:r>
              <a:rPr lang="en-US" altLang="zh-CN" sz="2400" dirty="0"/>
              <a:t>.</a:t>
            </a:r>
          </a:p>
          <a:p>
            <a:r>
              <a:rPr lang="en-US" altLang="zh-CN" sz="2400" b="1" dirty="0"/>
              <a:t>Remaining:</a:t>
            </a:r>
            <a:r>
              <a:rPr lang="en-US" altLang="zh-CN" sz="2400" dirty="0"/>
              <a:t> Following the CPA -&gt; 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 = j = t + 1 </a:t>
            </a:r>
            <a:r>
              <a:rPr lang="en-US" altLang="zh-CN" sz="2400" dirty="0"/>
              <a:t>. 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In all, through our Prophet Attention, the attention model can learn to </a:t>
            </a:r>
            <a:r>
              <a:rPr lang="en-US" altLang="zh-CN" sz="2400" dirty="0">
                <a:solidFill>
                  <a:srgbClr val="FF0000"/>
                </a:solidFill>
              </a:rPr>
              <a:t>ground</a:t>
            </a:r>
            <a:r>
              <a:rPr lang="en-US" altLang="zh-CN" sz="2400" dirty="0"/>
              <a:t> each </a:t>
            </a:r>
            <a:r>
              <a:rPr lang="en-US" altLang="zh-CN" sz="2400" dirty="0">
                <a:solidFill>
                  <a:srgbClr val="FF0000"/>
                </a:solidFill>
              </a:rPr>
              <a:t>output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word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t</a:t>
            </a:r>
            <a:r>
              <a:rPr lang="en-US" altLang="zh-CN" sz="2400" dirty="0"/>
              <a:t> to </a:t>
            </a:r>
            <a:r>
              <a:rPr lang="en-US" altLang="zh-CN" sz="2400" dirty="0">
                <a:solidFill>
                  <a:srgbClr val="FF0000"/>
                </a:solidFill>
              </a:rPr>
              <a:t>image regions </a:t>
            </a:r>
            <a:r>
              <a:rPr lang="en-US" altLang="zh-CN" sz="2400" dirty="0"/>
              <a:t>without the </a:t>
            </a:r>
            <a:r>
              <a:rPr lang="en-US" altLang="zh-CN" sz="2400" dirty="0">
                <a:solidFill>
                  <a:srgbClr val="FF0000"/>
                </a:solidFill>
              </a:rPr>
              <a:t>ground-truth of grounding annotation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1486" y="3589947"/>
            <a:ext cx="11021641" cy="1448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2461794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dirty="0"/>
              <a:t>3. Experiments</a:t>
            </a:r>
            <a:br>
              <a:rPr lang="zh-CN" altLang="en-US" dirty="0"/>
            </a:br>
            <a:endParaRPr lang="en-US" altLang="zh-CN" sz="2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54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Online Evaluation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E41C77-553F-4DE7-A176-49DAC038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6491"/>
            <a:ext cx="12192000" cy="54115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0" y="2461794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zh-CN" dirty="0"/>
              <a:t>4. Conclusions</a:t>
            </a:r>
            <a:endParaRPr lang="en-US" altLang="zh-CN" sz="28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6548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8A185-547B-4CD2-B088-BB6B5FE5B7CE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105508" y="1336431"/>
            <a:ext cx="12086492" cy="552157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In this work, we focus on </a:t>
            </a:r>
            <a:r>
              <a:rPr lang="en-US" altLang="zh-CN" sz="3200" dirty="0">
                <a:solidFill>
                  <a:srgbClr val="FF0000"/>
                </a:solidFill>
              </a:rPr>
              <a:t>correctly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grounding</a:t>
            </a:r>
            <a:r>
              <a:rPr lang="en-US" altLang="zh-CN" sz="3200" dirty="0"/>
              <a:t> the </a:t>
            </a:r>
            <a:r>
              <a:rPr lang="en-US" altLang="zh-CN" sz="3200" dirty="0">
                <a:solidFill>
                  <a:srgbClr val="FF0000"/>
                </a:solidFill>
              </a:rPr>
              <a:t>image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regions</a:t>
            </a:r>
            <a:r>
              <a:rPr lang="en-US" altLang="zh-CN" sz="3200" dirty="0"/>
              <a:t> with </a:t>
            </a:r>
            <a:r>
              <a:rPr lang="en-US" altLang="zh-CN" sz="3200" dirty="0">
                <a:solidFill>
                  <a:srgbClr val="FF0000"/>
                </a:solidFill>
              </a:rPr>
              <a:t>generated</a:t>
            </a: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words</a:t>
            </a:r>
            <a:r>
              <a:rPr lang="en-US" altLang="zh-CN" sz="3200" dirty="0"/>
              <a:t> in the </a:t>
            </a:r>
            <a:r>
              <a:rPr lang="en-US" altLang="zh-CN" sz="3200" dirty="0">
                <a:solidFill>
                  <a:srgbClr val="FF0000"/>
                </a:solidFill>
              </a:rPr>
              <a:t>attention model</a:t>
            </a:r>
            <a:r>
              <a:rPr lang="en-US" altLang="zh-CN" sz="3200" dirty="0"/>
              <a:t>. 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/>
              <a:t>To this end, we propose the </a:t>
            </a:r>
            <a:r>
              <a:rPr lang="en-US" altLang="zh-CN" sz="3200" dirty="0">
                <a:solidFill>
                  <a:srgbClr val="FF0000"/>
                </a:solidFill>
              </a:rPr>
              <a:t>Prophet Attention</a:t>
            </a:r>
            <a:r>
              <a:rPr lang="en-US" altLang="zh-CN" sz="3200" dirty="0"/>
              <a:t>, which is similar to the form of </a:t>
            </a:r>
            <a:r>
              <a:rPr lang="en-US" altLang="zh-CN" sz="3200" dirty="0">
                <a:solidFill>
                  <a:srgbClr val="FF0000"/>
                </a:solidFill>
              </a:rPr>
              <a:t>self-supervision</a:t>
            </a:r>
            <a:r>
              <a:rPr lang="en-US" altLang="zh-CN" sz="3200" dirty="0"/>
              <a:t> for </a:t>
            </a:r>
            <a:r>
              <a:rPr lang="en-US" altLang="zh-CN" sz="3200" dirty="0">
                <a:solidFill>
                  <a:srgbClr val="FF0000"/>
                </a:solidFill>
              </a:rPr>
              <a:t>calculating</a:t>
            </a:r>
            <a:r>
              <a:rPr lang="en-US" altLang="zh-CN" sz="3200" dirty="0"/>
              <a:t> attentional weights based on </a:t>
            </a:r>
            <a:r>
              <a:rPr lang="en-US" altLang="zh-CN" sz="3200" dirty="0">
                <a:solidFill>
                  <a:srgbClr val="FF0000"/>
                </a:solidFill>
              </a:rPr>
              <a:t>future information</a:t>
            </a:r>
            <a:r>
              <a:rPr lang="en-US" altLang="zh-CN" sz="3200" dirty="0"/>
              <a:t>, and </a:t>
            </a:r>
            <a:r>
              <a:rPr lang="en-US" altLang="zh-CN" sz="3200" dirty="0">
                <a:solidFill>
                  <a:srgbClr val="FF0000"/>
                </a:solidFill>
              </a:rPr>
              <a:t>force</a:t>
            </a:r>
            <a:r>
              <a:rPr lang="en-US" altLang="zh-CN" sz="3200" dirty="0"/>
              <a:t> the attention model to learn to </a:t>
            </a:r>
            <a:r>
              <a:rPr lang="en-US" altLang="zh-CN" sz="3200" dirty="0">
                <a:solidFill>
                  <a:srgbClr val="FF0000"/>
                </a:solidFill>
              </a:rPr>
              <a:t>correctly</a:t>
            </a:r>
            <a:r>
              <a:rPr lang="en-US" altLang="zh-CN" sz="3200" dirty="0"/>
              <a:t> ground each output word to proper image regions. </a:t>
            </a:r>
          </a:p>
          <a:p>
            <a:r>
              <a:rPr lang="en-US" altLang="zh-CN" sz="3200" dirty="0"/>
              <a:t>We evaluate Prophet Attention for image captioning on the Flickr30k Entities and MSCOCO datasets. We achieve the </a:t>
            </a:r>
            <a:r>
              <a:rPr lang="en-US" altLang="zh-CN" sz="3200" b="1" dirty="0">
                <a:solidFill>
                  <a:srgbClr val="FF0000"/>
                </a:solidFill>
              </a:rPr>
              <a:t>1st</a:t>
            </a:r>
            <a:r>
              <a:rPr lang="en-US" altLang="zh-CN" sz="3200" dirty="0"/>
              <a:t> place on the </a:t>
            </a:r>
            <a:r>
              <a:rPr lang="en-US" altLang="zh-CN" sz="3200" dirty="0">
                <a:solidFill>
                  <a:srgbClr val="FF0000"/>
                </a:solidFill>
              </a:rPr>
              <a:t>leaderboard</a:t>
            </a:r>
            <a:r>
              <a:rPr lang="en-US" altLang="zh-CN" sz="3200" dirty="0"/>
              <a:t> of the MSCOCO online server benchmark.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87888" y="1255200"/>
            <a:ext cx="10515600" cy="3087461"/>
          </a:xfrm>
        </p:spPr>
        <p:txBody>
          <a:bodyPr/>
          <a:lstStyle/>
          <a:p>
            <a:pPr algn="ctr"/>
            <a:br>
              <a:rPr lang="en-US" altLang="zh-CN" dirty="0"/>
            </a:br>
            <a:r>
              <a:rPr lang="zh-CN" altLang="en-US" dirty="0">
                <a:sym typeface="Wingdings" panose="05000000000000000000" pitchFamily="2" charset="2"/>
              </a:rPr>
              <a:t></a:t>
            </a:r>
            <a:br>
              <a:rPr lang="en-US" altLang="zh-CN" dirty="0"/>
            </a:br>
            <a:r>
              <a:rPr lang="en-US" altLang="zh-CN" dirty="0"/>
              <a:t>Thank you for your attention!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03EE9-A018-4270-837F-8601F4153809}" type="slidenum">
              <a:rPr lang="en-US" altLang="zh-CN" smtClean="0"/>
              <a:pPr/>
              <a:t>17</a:t>
            </a:fld>
            <a:endParaRPr lang="en-US" altLang="zh-CN"/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BAE12835-EBCB-4680-AE31-313926D281E8}"/>
              </a:ext>
            </a:extLst>
          </p:cNvPr>
          <p:cNvSpPr txBox="1"/>
          <p:nvPr/>
        </p:nvSpPr>
        <p:spPr>
          <a:xfrm>
            <a:off x="1" y="4668787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is available at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https://github.com/fenglinliu98/ProphetAttention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any questions about our paper, you can send an email to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fenglinliu98@pku.edu.cn 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63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8882</TotalTime>
  <Words>1541</Words>
  <Application>Microsoft Office PowerPoint</Application>
  <PresentationFormat>宽屏</PresentationFormat>
  <Paragraphs>151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NimbusRomNo9L-Regu</vt:lpstr>
      <vt:lpstr>等线</vt:lpstr>
      <vt:lpstr>黑体</vt:lpstr>
      <vt:lpstr>华文新魏</vt:lpstr>
      <vt:lpstr>楷体</vt:lpstr>
      <vt:lpstr>Arial</vt:lpstr>
      <vt:lpstr>Calibri</vt:lpstr>
      <vt:lpstr>Cambria</vt:lpstr>
      <vt:lpstr>Times New Roman</vt:lpstr>
      <vt:lpstr>Wingdings</vt:lpstr>
      <vt:lpstr>Office 主题​​</vt:lpstr>
      <vt:lpstr>Prophet Attention:  Predicting Attention with Future Attention</vt:lpstr>
      <vt:lpstr>目录</vt:lpstr>
      <vt:lpstr>1. Introduction  </vt:lpstr>
      <vt:lpstr>Image Captioning</vt:lpstr>
      <vt:lpstr>Attention-Enhanced Encoder-Decoder Framework</vt:lpstr>
      <vt:lpstr>Motivations</vt:lpstr>
      <vt:lpstr>Examples</vt:lpstr>
      <vt:lpstr>2. Prophet Attention </vt:lpstr>
      <vt:lpstr>Approach</vt:lpstr>
      <vt:lpstr>Formulation</vt:lpstr>
      <vt:lpstr>Constant Prophet Attention (CPA)</vt:lpstr>
      <vt:lpstr>Dynamic Prophet Attention (DPA)</vt:lpstr>
      <vt:lpstr>3. Experiments </vt:lpstr>
      <vt:lpstr>Online Evaluation</vt:lpstr>
      <vt:lpstr>4. Conclusions</vt:lpstr>
      <vt:lpstr>Conclusions</vt:lpstr>
      <vt:lpstr>  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dm Y</dc:creator>
  <cp:keywords>CTPClassification=CTP_NT</cp:keywords>
  <cp:lastModifiedBy>刘 峰林</cp:lastModifiedBy>
  <cp:revision>1708</cp:revision>
  <dcterms:created xsi:type="dcterms:W3CDTF">2018-05-15T02:41:31Z</dcterms:created>
  <dcterms:modified xsi:type="dcterms:W3CDTF">2020-10-23T20:24:33Z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0bac94a5-d60e-47fe-b3d9-07552e40ec9c</vt:lpwstr>
  </property>
  <property fmtid="{D5CDD505-2E9C-101B-9397-08002B2CF9AE}" pid="3" name="CTP_TimeStamp">
    <vt:lpwstr>2020-04-01 00:30:26Z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