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handoutMasterIdLst>
    <p:handoutMasterId r:id="rId21"/>
  </p:handoutMasterIdLst>
  <p:sldIdLst>
    <p:sldId id="712" r:id="rId2"/>
    <p:sldId id="725" r:id="rId3"/>
    <p:sldId id="632" r:id="rId4"/>
    <p:sldId id="713" r:id="rId5"/>
    <p:sldId id="746" r:id="rId6"/>
    <p:sldId id="748" r:id="rId7"/>
    <p:sldId id="728" r:id="rId8"/>
    <p:sldId id="749" r:id="rId9"/>
    <p:sldId id="750" r:id="rId10"/>
    <p:sldId id="751" r:id="rId11"/>
    <p:sldId id="719" r:id="rId12"/>
    <p:sldId id="734" r:id="rId13"/>
    <p:sldId id="753" r:id="rId14"/>
    <p:sldId id="754" r:id="rId15"/>
    <p:sldId id="755" r:id="rId16"/>
    <p:sldId id="736" r:id="rId17"/>
    <p:sldId id="724" r:id="rId18"/>
    <p:sldId id="457"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8" autoAdjust="0"/>
    <p:restoredTop sz="77778" autoAdjust="0"/>
  </p:normalViewPr>
  <p:slideViewPr>
    <p:cSldViewPr snapToGrid="0">
      <p:cViewPr varScale="1">
        <p:scale>
          <a:sx n="67" d="100"/>
          <a:sy n="67" d="100"/>
        </p:scale>
        <p:origin x="1370" y="73"/>
      </p:cViewPr>
      <p:guideLst>
        <p:guide orient="horz" pos="2160"/>
        <p:guide pos="3840"/>
      </p:guideLst>
    </p:cSldViewPr>
  </p:slideViewPr>
  <p:notesTextViewPr>
    <p:cViewPr>
      <p:scale>
        <a:sx n="75" d="100"/>
        <a:sy n="75" d="100"/>
      </p:scale>
      <p:origin x="0" y="0"/>
    </p:cViewPr>
  </p:notesTextViewPr>
  <p:notesViewPr>
    <p:cSldViewPr snapToGrid="0">
      <p:cViewPr varScale="1">
        <p:scale>
          <a:sx n="66" d="100"/>
          <a:sy n="66" d="100"/>
        </p:scale>
        <p:origin x="3180"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C647CDF-85E7-4B95-8B4D-0784D45882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39AF909D-23B2-437C-B400-32213A7583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7A47A5-D360-4EDA-AD95-69A41F68A021}" type="datetimeFigureOut">
              <a:rPr lang="zh-CN" altLang="en-US" smtClean="0"/>
              <a:t>2020/9/14</a:t>
            </a:fld>
            <a:endParaRPr lang="zh-CN" altLang="en-US"/>
          </a:p>
        </p:txBody>
      </p:sp>
      <p:sp>
        <p:nvSpPr>
          <p:cNvPr id="4" name="页脚占位符 3">
            <a:extLst>
              <a:ext uri="{FF2B5EF4-FFF2-40B4-BE49-F238E27FC236}">
                <a16:creationId xmlns:a16="http://schemas.microsoft.com/office/drawing/2014/main" id="{CB23DEA9-DEA2-4994-8C90-D223AD6829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D715F1C-E297-4E1E-A630-45FB5E033B8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11F319-5F10-42A5-B8E6-081B8A4EC647}" type="slidenum">
              <a:rPr lang="zh-CN" altLang="en-US" smtClean="0"/>
              <a:t>‹#›</a:t>
            </a:fld>
            <a:endParaRPr lang="zh-CN" altLang="en-US"/>
          </a:p>
        </p:txBody>
      </p:sp>
    </p:spTree>
    <p:extLst>
      <p:ext uri="{BB962C8B-B14F-4D97-AF65-F5344CB8AC3E}">
        <p14:creationId xmlns:p14="http://schemas.microsoft.com/office/powerpoint/2010/main" val="42523272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1C2FA-C6B1-48BC-9E1E-F4E2BF8E3597}" type="datetimeFigureOut">
              <a:rPr lang="zh-CN" altLang="en-US" smtClean="0"/>
              <a:pPr/>
              <a:t>2020/9/14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CA4D4C-B76D-475C-B758-832A6C1CD0D4}" type="slidenum">
              <a:rPr lang="zh-CN" altLang="en-US" smtClean="0"/>
              <a:pPr/>
              <a:t>‹#›</a:t>
            </a:fld>
            <a:endParaRPr lang="zh-CN" altLang="en-US"/>
          </a:p>
        </p:txBody>
      </p:sp>
    </p:spTree>
    <p:extLst>
      <p:ext uri="{BB962C8B-B14F-4D97-AF65-F5344CB8AC3E}">
        <p14:creationId xmlns:p14="http://schemas.microsoft.com/office/powerpoint/2010/main" val="4051043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kumimoji="1" lang="en-US" altLang="zh-CN" sz="1800" dirty="0"/>
              <a:t>Hi, everyone. I</a:t>
            </a:r>
            <a:r>
              <a:rPr kumimoji="1" lang="en-US" altLang="zh-CN" sz="1800" baseline="0" dirty="0"/>
              <a:t> a</a:t>
            </a:r>
            <a:r>
              <a:rPr kumimoji="1" lang="en-US" altLang="zh-CN" sz="1800" dirty="0"/>
              <a:t>m </a:t>
            </a:r>
            <a:r>
              <a:rPr kumimoji="1" lang="en-US" altLang="zh-CN" sz="1800" dirty="0" err="1"/>
              <a:t>Fenglin</a:t>
            </a:r>
            <a:r>
              <a:rPr kumimoji="1" lang="en-US" altLang="zh-CN" sz="1800" dirty="0"/>
              <a:t> Liu from Peking University. I am glad to introduce our work: </a:t>
            </a:r>
            <a:r>
              <a:rPr lang="en-US" altLang="zh-CN" sz="1800" b="0" i="0" u="none" strike="noStrike" baseline="0" dirty="0">
                <a:latin typeface="LinBiolinumTB"/>
              </a:rPr>
              <a:t>Bridging the Gap between Vision and Language Domains for Improved Image Captioning</a:t>
            </a:r>
            <a:endParaRPr kumimoji="1" lang="en-US" altLang="zh-CN" sz="1800" dirty="0"/>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1</a:t>
            </a:fld>
            <a:endParaRPr lang="en-US" altLang="zh-CN"/>
          </a:p>
        </p:txBody>
      </p:sp>
    </p:spTree>
    <p:extLst>
      <p:ext uri="{BB962C8B-B14F-4D97-AF65-F5344CB8AC3E}">
        <p14:creationId xmlns:p14="http://schemas.microsoft.com/office/powerpoint/2010/main" val="1923149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My</a:t>
            </a:r>
            <a:r>
              <a:rPr lang="en-US" altLang="zh-CN" baseline="0" dirty="0"/>
              <a:t> presentation consists of four sections, which are listed in this slide.</a:t>
            </a:r>
          </a:p>
          <a:p>
            <a:endParaRPr lang="zh-CN" altLang="en-US" dirty="0"/>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2</a:t>
            </a:fld>
            <a:endParaRPr lang="en-US" altLang="zh-CN"/>
          </a:p>
        </p:txBody>
      </p:sp>
    </p:spTree>
    <p:extLst>
      <p:ext uri="{BB962C8B-B14F-4D97-AF65-F5344CB8AC3E}">
        <p14:creationId xmlns:p14="http://schemas.microsoft.com/office/powerpoint/2010/main" val="1275412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Now, let's start the first section</a:t>
            </a:r>
            <a:endParaRPr lang="zh-CN" altLang="en-US" dirty="0"/>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3</a:t>
            </a:fld>
            <a:endParaRPr lang="en-US" altLang="zh-CN"/>
          </a:p>
        </p:txBody>
      </p:sp>
    </p:spTree>
    <p:extLst>
      <p:ext uri="{BB962C8B-B14F-4D97-AF65-F5344CB8AC3E}">
        <p14:creationId xmlns:p14="http://schemas.microsoft.com/office/powerpoint/2010/main" val="1923149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LinLibertineT"/>
              </a:rPr>
              <a:t>Image captioning has attracted extensive research interests in recent years. As we know, image captioning belongs to the category of high-level vision tasks. It means that there are great dis/pa/</a:t>
            </a:r>
            <a:r>
              <a:rPr lang="en-US" altLang="zh-CN" sz="1800" b="0" i="0" u="none" strike="noStrike" baseline="0" dirty="0" err="1">
                <a:latin typeface="LinLibertineT"/>
              </a:rPr>
              <a:t>ri</a:t>
            </a:r>
            <a:r>
              <a:rPr lang="en-US" altLang="zh-CN" sz="1800" b="0" i="0" u="none" strike="noStrike" baseline="0" dirty="0">
                <a:latin typeface="LinLibertineT"/>
              </a:rPr>
              <a:t>/ties between vision and language, thus an important goal of image captioning is to link the information in visual domain to textual domain.  </a:t>
            </a:r>
          </a:p>
          <a:p>
            <a:pPr algn="l"/>
            <a:r>
              <a:rPr lang="en-US" altLang="zh-CN" sz="1800" b="0" i="0" u="none" strike="noStrike" baseline="0" dirty="0">
                <a:latin typeface="LinLibertineT"/>
              </a:rPr>
              <a:t>In brief, </a:t>
            </a:r>
            <a:endParaRPr lang="zh-CN" altLang="en-US" dirty="0"/>
          </a:p>
        </p:txBody>
      </p:sp>
      <p:sp>
        <p:nvSpPr>
          <p:cNvPr id="4" name="灯片编号占位符 3"/>
          <p:cNvSpPr>
            <a:spLocks noGrp="1"/>
          </p:cNvSpPr>
          <p:nvPr>
            <p:ph type="sldNum" sz="quarter" idx="5"/>
          </p:nvPr>
        </p:nvSpPr>
        <p:spPr/>
        <p:txBody>
          <a:bodyPr/>
          <a:lstStyle/>
          <a:p>
            <a:fld id="{8BCA4D4C-B76D-475C-B758-832A6C1CD0D4}" type="slidenum">
              <a:rPr lang="zh-CN" altLang="en-US" smtClean="0"/>
              <a:pPr/>
              <a:t>4</a:t>
            </a:fld>
            <a:endParaRPr lang="zh-CN" altLang="en-US"/>
          </a:p>
        </p:txBody>
      </p:sp>
    </p:spTree>
    <p:extLst>
      <p:ext uri="{BB962C8B-B14F-4D97-AF65-F5344CB8AC3E}">
        <p14:creationId xmlns:p14="http://schemas.microsoft.com/office/powerpoint/2010/main" val="2451161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0" i="0" u="none" strike="noStrike" baseline="0" dirty="0">
                <a:latin typeface="LinLibertineT"/>
              </a:rPr>
              <a:t>However, </a:t>
            </a:r>
            <a:endParaRPr lang="zh-CN" altLang="en-US" dirty="0"/>
          </a:p>
        </p:txBody>
      </p:sp>
      <p:sp>
        <p:nvSpPr>
          <p:cNvPr id="4" name="灯片编号占位符 3"/>
          <p:cNvSpPr>
            <a:spLocks noGrp="1"/>
          </p:cNvSpPr>
          <p:nvPr>
            <p:ph type="sldNum" sz="quarter" idx="5"/>
          </p:nvPr>
        </p:nvSpPr>
        <p:spPr/>
        <p:txBody>
          <a:bodyPr/>
          <a:lstStyle/>
          <a:p>
            <a:fld id="{8BCA4D4C-B76D-475C-B758-832A6C1CD0D4}" type="slidenum">
              <a:rPr lang="zh-CN" altLang="en-US" smtClean="0"/>
              <a:pPr/>
              <a:t>5</a:t>
            </a:fld>
            <a:endParaRPr lang="zh-CN" altLang="en-US"/>
          </a:p>
        </p:txBody>
      </p:sp>
    </p:spTree>
    <p:extLst>
      <p:ext uri="{BB962C8B-B14F-4D97-AF65-F5344CB8AC3E}">
        <p14:creationId xmlns:p14="http://schemas.microsoft.com/office/powerpoint/2010/main" val="2070201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BCA4D4C-B76D-475C-B758-832A6C1CD0D4}" type="slidenum">
              <a:rPr lang="zh-CN" altLang="en-US" smtClean="0"/>
              <a:pPr/>
              <a:t>6</a:t>
            </a:fld>
            <a:endParaRPr lang="zh-CN" altLang="en-US"/>
          </a:p>
        </p:txBody>
      </p:sp>
    </p:spTree>
    <p:extLst>
      <p:ext uri="{BB962C8B-B14F-4D97-AF65-F5344CB8AC3E}">
        <p14:creationId xmlns:p14="http://schemas.microsoft.com/office/powerpoint/2010/main" val="2065429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this section,</a:t>
            </a:r>
            <a:r>
              <a:rPr lang="en-US" altLang="zh-CN" baseline="0" dirty="0"/>
              <a:t> </a:t>
            </a:r>
            <a:r>
              <a:rPr lang="en-US" altLang="zh-CN" sz="1200" b="0" i="0" kern="1200" baseline="0" dirty="0">
                <a:solidFill>
                  <a:schemeClr val="tx1"/>
                </a:solidFill>
                <a:latin typeface="+mn-lt"/>
                <a:ea typeface="+mn-ea"/>
                <a:cs typeface="+mn-cs"/>
              </a:rPr>
              <a:t>w</a:t>
            </a:r>
            <a:r>
              <a:rPr lang="en-US" altLang="zh-CN" sz="1200" b="0" i="0" kern="1200" dirty="0">
                <a:solidFill>
                  <a:schemeClr val="tx1"/>
                </a:solidFill>
                <a:latin typeface="+mn-lt"/>
                <a:ea typeface="+mn-ea"/>
                <a:cs typeface="+mn-cs"/>
              </a:rPr>
              <a:t>e will</a:t>
            </a:r>
            <a:r>
              <a:rPr lang="en-US" altLang="zh-CN" sz="1200" b="0" i="0" kern="1200" baseline="0" dirty="0">
                <a:solidFill>
                  <a:schemeClr val="tx1"/>
                </a:solidFill>
                <a:latin typeface="+mn-lt"/>
                <a:ea typeface="+mn-ea"/>
                <a:cs typeface="+mn-cs"/>
              </a:rPr>
              <a:t> make </a:t>
            </a:r>
            <a:r>
              <a:rPr lang="en-US" altLang="zh-CN" baseline="0" dirty="0"/>
              <a:t>a brief discussion about our approach. </a:t>
            </a:r>
            <a:endParaRPr lang="en-US" altLang="zh-CN" sz="1200" baseline="0" dirty="0"/>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7</a:t>
            </a:fld>
            <a:endParaRPr lang="en-US" altLang="zh-CN"/>
          </a:p>
        </p:txBody>
      </p:sp>
    </p:spTree>
    <p:extLst>
      <p:ext uri="{BB962C8B-B14F-4D97-AF65-F5344CB8AC3E}">
        <p14:creationId xmlns:p14="http://schemas.microsoft.com/office/powerpoint/2010/main" val="3628052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BCA4D4C-B76D-475C-B758-832A6C1CD0D4}" type="slidenum">
              <a:rPr lang="zh-CN" altLang="en-US" smtClean="0"/>
              <a:pPr/>
              <a:t>8</a:t>
            </a:fld>
            <a:endParaRPr lang="zh-CN" altLang="en-US"/>
          </a:p>
        </p:txBody>
      </p:sp>
    </p:spTree>
    <p:extLst>
      <p:ext uri="{BB962C8B-B14F-4D97-AF65-F5344CB8AC3E}">
        <p14:creationId xmlns:p14="http://schemas.microsoft.com/office/powerpoint/2010/main" val="4208203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BCA4D4C-B76D-475C-B758-832A6C1CD0D4}" type="slidenum">
              <a:rPr lang="zh-CN" altLang="en-US" smtClean="0"/>
              <a:pPr/>
              <a:t>9</a:t>
            </a:fld>
            <a:endParaRPr lang="zh-CN" altLang="en-US"/>
          </a:p>
        </p:txBody>
      </p:sp>
    </p:spTree>
    <p:extLst>
      <p:ext uri="{BB962C8B-B14F-4D97-AF65-F5344CB8AC3E}">
        <p14:creationId xmlns:p14="http://schemas.microsoft.com/office/powerpoint/2010/main" val="1646671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BCA4D4C-B76D-475C-B758-832A6C1CD0D4}" type="slidenum">
              <a:rPr lang="zh-CN" altLang="en-US" smtClean="0"/>
              <a:pPr/>
              <a:t>10</a:t>
            </a:fld>
            <a:endParaRPr lang="zh-CN" altLang="en-US"/>
          </a:p>
        </p:txBody>
      </p:sp>
    </p:spTree>
    <p:extLst>
      <p:ext uri="{BB962C8B-B14F-4D97-AF65-F5344CB8AC3E}">
        <p14:creationId xmlns:p14="http://schemas.microsoft.com/office/powerpoint/2010/main" val="393154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11</a:t>
            </a:fld>
            <a:endParaRPr lang="en-US" altLang="zh-CN"/>
          </a:p>
        </p:txBody>
      </p:sp>
    </p:spTree>
    <p:extLst>
      <p:ext uri="{BB962C8B-B14F-4D97-AF65-F5344CB8AC3E}">
        <p14:creationId xmlns:p14="http://schemas.microsoft.com/office/powerpoint/2010/main" val="83146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latin typeface="+mn-lt"/>
                <a:ea typeface="+mn-ea"/>
                <a:cs typeface="+mn-cs"/>
              </a:rPr>
              <a:t>In</a:t>
            </a:r>
            <a:r>
              <a:rPr lang="en-US" altLang="zh-CN" sz="1200" b="0" i="0" kern="1200" baseline="0" dirty="0">
                <a:solidFill>
                  <a:schemeClr val="tx1"/>
                </a:solidFill>
                <a:latin typeface="+mn-lt"/>
                <a:ea typeface="+mn-ea"/>
                <a:cs typeface="+mn-cs"/>
              </a:rPr>
              <a:t> this section, w</a:t>
            </a:r>
            <a:r>
              <a:rPr lang="en-US" altLang="zh-CN" sz="1200" b="0" i="0" kern="1200" dirty="0">
                <a:solidFill>
                  <a:schemeClr val="tx1"/>
                </a:solidFill>
                <a:latin typeface="+mn-lt"/>
                <a:ea typeface="+mn-ea"/>
                <a:cs typeface="+mn-cs"/>
              </a:rPr>
              <a:t>e describe the datasets and metrics used for</a:t>
            </a:r>
            <a:r>
              <a:rPr lang="en-US" altLang="zh-CN" sz="1200" b="0" i="0" kern="1200" baseline="0" dirty="0">
                <a:solidFill>
                  <a:schemeClr val="tx1"/>
                </a:solidFill>
                <a:latin typeface="+mn-lt"/>
                <a:ea typeface="+mn-ea"/>
                <a:cs typeface="+mn-cs"/>
              </a:rPr>
              <a:t> </a:t>
            </a:r>
            <a:r>
              <a:rPr lang="en-US" altLang="zh-CN" sz="1200" b="0" i="0" kern="1200" dirty="0">
                <a:solidFill>
                  <a:schemeClr val="tx1"/>
                </a:solidFill>
                <a:latin typeface="+mn-lt"/>
                <a:ea typeface="+mn-ea"/>
                <a:cs typeface="+mn-cs"/>
              </a:rPr>
              <a:t>e/</a:t>
            </a:r>
            <a:r>
              <a:rPr lang="en-US" altLang="zh-CN" sz="1200" b="0" i="0" kern="1200" dirty="0" err="1">
                <a:solidFill>
                  <a:schemeClr val="tx1"/>
                </a:solidFill>
                <a:latin typeface="+mn-lt"/>
                <a:ea typeface="+mn-ea"/>
                <a:cs typeface="+mn-cs"/>
              </a:rPr>
              <a:t>va</a:t>
            </a:r>
            <a:r>
              <a:rPr lang="en-US" altLang="zh-CN" sz="1200" b="0" i="0" kern="1200" dirty="0">
                <a:solidFill>
                  <a:schemeClr val="tx1"/>
                </a:solidFill>
                <a:latin typeface="+mn-lt"/>
                <a:ea typeface="+mn-ea"/>
                <a:cs typeface="+mn-cs"/>
              </a:rPr>
              <a:t>/</a:t>
            </a:r>
            <a:r>
              <a:rPr lang="en-US" altLang="zh-CN" sz="1200" b="0" i="0" kern="1200" dirty="0" err="1">
                <a:solidFill>
                  <a:schemeClr val="tx1"/>
                </a:solidFill>
                <a:latin typeface="+mn-lt"/>
                <a:ea typeface="+mn-ea"/>
                <a:cs typeface="+mn-cs"/>
              </a:rPr>
              <a:t>lu</a:t>
            </a:r>
            <a:r>
              <a:rPr lang="en-US" altLang="zh-CN" sz="1200" b="0" i="0" kern="1200" dirty="0">
                <a:solidFill>
                  <a:schemeClr val="tx1"/>
                </a:solidFill>
                <a:latin typeface="+mn-lt"/>
                <a:ea typeface="+mn-ea"/>
                <a:cs typeface="+mn-cs"/>
              </a:rPr>
              <a:t>/a/</a:t>
            </a:r>
            <a:r>
              <a:rPr lang="en-US" altLang="zh-CN" sz="1200" b="0" i="0" kern="1200" dirty="0" err="1">
                <a:solidFill>
                  <a:schemeClr val="tx1"/>
                </a:solidFill>
                <a:latin typeface="+mn-lt"/>
                <a:ea typeface="+mn-ea"/>
                <a:cs typeface="+mn-cs"/>
              </a:rPr>
              <a:t>tion</a:t>
            </a:r>
            <a:r>
              <a:rPr lang="en-US" altLang="zh-CN" sz="1200" b="0" i="0" kern="1200" dirty="0">
                <a:solidFill>
                  <a:schemeClr val="tx1"/>
                </a:solidFill>
                <a:latin typeface="+mn-lt"/>
                <a:ea typeface="+mn-ea"/>
                <a:cs typeface="+mn-cs"/>
              </a:rPr>
              <a:t>, followed by the</a:t>
            </a:r>
            <a:r>
              <a:rPr lang="en-US" altLang="zh-CN" sz="1200" b="0" i="0" kern="1200" baseline="0" dirty="0">
                <a:solidFill>
                  <a:schemeClr val="tx1"/>
                </a:solidFill>
                <a:latin typeface="+mn-lt"/>
                <a:ea typeface="+mn-ea"/>
                <a:cs typeface="+mn-cs"/>
              </a:rPr>
              <a:t> </a:t>
            </a:r>
            <a:r>
              <a:rPr lang="en-US" altLang="zh-CN" sz="1200" b="0" i="0" kern="1200" dirty="0">
                <a:solidFill>
                  <a:schemeClr val="tx1"/>
                </a:solidFill>
                <a:latin typeface="+mn-lt"/>
                <a:ea typeface="+mn-ea"/>
                <a:cs typeface="+mn-cs"/>
              </a:rPr>
              <a:t>e/</a:t>
            </a:r>
            <a:r>
              <a:rPr lang="en-US" altLang="zh-CN" sz="1200" b="0" i="0" kern="1200" dirty="0" err="1">
                <a:solidFill>
                  <a:schemeClr val="tx1"/>
                </a:solidFill>
                <a:latin typeface="+mn-lt"/>
                <a:ea typeface="+mn-ea"/>
                <a:cs typeface="+mn-cs"/>
              </a:rPr>
              <a:t>va</a:t>
            </a:r>
            <a:r>
              <a:rPr lang="en-US" altLang="zh-CN" sz="1200" b="0" i="0" kern="1200" dirty="0">
                <a:solidFill>
                  <a:schemeClr val="tx1"/>
                </a:solidFill>
                <a:latin typeface="+mn-lt"/>
                <a:ea typeface="+mn-ea"/>
                <a:cs typeface="+mn-cs"/>
              </a:rPr>
              <a:t>/</a:t>
            </a:r>
            <a:r>
              <a:rPr lang="en-US" altLang="zh-CN" sz="1200" b="0" i="0" kern="1200" dirty="0" err="1">
                <a:solidFill>
                  <a:schemeClr val="tx1"/>
                </a:solidFill>
                <a:latin typeface="+mn-lt"/>
                <a:ea typeface="+mn-ea"/>
                <a:cs typeface="+mn-cs"/>
              </a:rPr>
              <a:t>lu</a:t>
            </a:r>
            <a:r>
              <a:rPr lang="en-US" altLang="zh-CN" sz="1200" b="0" i="0" kern="1200" dirty="0">
                <a:solidFill>
                  <a:schemeClr val="tx1"/>
                </a:solidFill>
                <a:latin typeface="+mn-lt"/>
                <a:ea typeface="+mn-ea"/>
                <a:cs typeface="+mn-cs"/>
              </a:rPr>
              <a:t>/a/</a:t>
            </a:r>
            <a:r>
              <a:rPr lang="en-US" altLang="zh-CN" sz="1200" b="0" i="0" kern="1200" dirty="0" err="1">
                <a:solidFill>
                  <a:schemeClr val="tx1"/>
                </a:solidFill>
                <a:latin typeface="+mn-lt"/>
                <a:ea typeface="+mn-ea"/>
                <a:cs typeface="+mn-cs"/>
              </a:rPr>
              <a:t>tion</a:t>
            </a:r>
            <a:r>
              <a:rPr lang="en-US" altLang="zh-CN" sz="1200" b="0" i="0" kern="1200" dirty="0">
                <a:solidFill>
                  <a:schemeClr val="tx1"/>
                </a:solidFill>
                <a:latin typeface="+mn-lt"/>
                <a:ea typeface="+mn-ea"/>
                <a:cs typeface="+mn-cs"/>
              </a:rPr>
              <a:t> of the proposed approach.</a:t>
            </a:r>
            <a:r>
              <a:rPr lang="en-US" altLang="zh-CN" dirty="0"/>
              <a:t> </a:t>
            </a:r>
            <a:endParaRPr lang="zh-CN" altLang="en-US" dirty="0"/>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12</a:t>
            </a:fld>
            <a:endParaRPr lang="en-US" altLang="zh-CN"/>
          </a:p>
        </p:txBody>
      </p:sp>
    </p:spTree>
    <p:extLst>
      <p:ext uri="{BB962C8B-B14F-4D97-AF65-F5344CB8AC3E}">
        <p14:creationId xmlns:p14="http://schemas.microsoft.com/office/powerpoint/2010/main" val="37805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performance</a:t>
            </a:r>
            <a:r>
              <a:rPr lang="en-US" altLang="zh-CN" baseline="0" dirty="0"/>
              <a:t> is tested on two benchmark datasets, that is, </a:t>
            </a:r>
            <a:r>
              <a:rPr kumimoji="0" lang="en-US" altLang="zh-CN" sz="1200" b="1" i="0" u="none" strike="noStrike" kern="0" cap="none" spc="0" normalizeH="0" baseline="0" noProof="0" dirty="0">
                <a:ln>
                  <a:noFill/>
                </a:ln>
                <a:solidFill>
                  <a:prstClr val="black"/>
                </a:solidFill>
                <a:effectLst/>
                <a:uLnTx/>
                <a:uFillTx/>
              </a:rPr>
              <a:t>MSCOCO</a:t>
            </a:r>
            <a:r>
              <a:rPr lang="en-US" altLang="zh-CN" sz="1200" b="1" baseline="0" dirty="0"/>
              <a:t> </a:t>
            </a:r>
            <a:r>
              <a:rPr lang="en-US" altLang="zh-CN" sz="1200" b="1" dirty="0"/>
              <a:t>and Flickr.</a:t>
            </a:r>
            <a:r>
              <a:rPr lang="en-US" altLang="zh-CN" sz="1200" b="0" i="0" kern="1200" dirty="0">
                <a:solidFill>
                  <a:schemeClr val="tx1"/>
                </a:solidFill>
                <a:latin typeface="+mn-lt"/>
                <a:ea typeface="+mn-ea"/>
                <a:cs typeface="+mn-cs"/>
              </a:rPr>
              <a:t> We report the widely-used automatic evaluation metrics</a:t>
            </a:r>
            <a:r>
              <a:rPr lang="en-US" altLang="zh-CN" sz="1200" b="0" i="0" kern="1200" baseline="0" dirty="0">
                <a:solidFill>
                  <a:schemeClr val="tx1"/>
                </a:solidFill>
                <a:latin typeface="+mn-lt"/>
                <a:ea typeface="+mn-ea"/>
                <a:cs typeface="+mn-cs"/>
              </a:rPr>
              <a:t> </a:t>
            </a:r>
            <a:r>
              <a:rPr lang="en-US" altLang="zh-CN" sz="1200" b="0" i="0" kern="1200" dirty="0">
                <a:solidFill>
                  <a:schemeClr val="tx1"/>
                </a:solidFill>
                <a:latin typeface="+mn-lt"/>
                <a:ea typeface="+mn-ea"/>
                <a:cs typeface="+mn-cs"/>
              </a:rPr>
              <a:t>SPICE, </a:t>
            </a:r>
            <a:r>
              <a:rPr lang="en-US" altLang="zh-CN" sz="1200" b="0" i="0" kern="1200" dirty="0" err="1">
                <a:solidFill>
                  <a:schemeClr val="tx1"/>
                </a:solidFill>
                <a:latin typeface="+mn-lt"/>
                <a:ea typeface="+mn-ea"/>
                <a:cs typeface="+mn-cs"/>
              </a:rPr>
              <a:t>CIDEr</a:t>
            </a:r>
            <a:r>
              <a:rPr lang="en-US" altLang="zh-CN" sz="1200" b="0" i="0" kern="1200" dirty="0">
                <a:solidFill>
                  <a:schemeClr val="tx1"/>
                </a:solidFill>
                <a:latin typeface="+mn-lt"/>
                <a:ea typeface="+mn-ea"/>
                <a:cs typeface="+mn-cs"/>
              </a:rPr>
              <a:t>, BLEU, METEOR, and ROUGE.</a:t>
            </a:r>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13</a:t>
            </a:fld>
            <a:endParaRPr lang="en-US" altLang="zh-CN"/>
          </a:p>
        </p:txBody>
      </p:sp>
    </p:spTree>
    <p:extLst>
      <p:ext uri="{BB962C8B-B14F-4D97-AF65-F5344CB8AC3E}">
        <p14:creationId xmlns:p14="http://schemas.microsoft.com/office/powerpoint/2010/main" val="3020017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This slide shows the</a:t>
            </a:r>
            <a:r>
              <a:rPr lang="zh-CN" altLang="en-US" sz="1800" b="0" i="0" u="none" strike="noStrike" baseline="0" dirty="0">
                <a:latin typeface="+mn-lt"/>
              </a:rPr>
              <a:t> </a:t>
            </a:r>
            <a:r>
              <a:rPr lang="en-US" altLang="zh-CN" sz="1800" b="0" i="0" u="none" strike="noStrike" baseline="0" dirty="0">
                <a:latin typeface="LinLibertineTB"/>
              </a:rPr>
              <a:t>performance on the MSCOCO dataset. All values are reported in percentage. All the baselines enjoy a comfortable improvement with the proposed approach. Additionally, we report the performance of the current published state-of-the-art models ORT and HIP, as we can see, the </a:t>
            </a:r>
            <a:r>
              <a:rPr lang="en-US" altLang="zh-CN" sz="1800" b="0" i="0" u="none" strike="noStrike" baseline="0" dirty="0">
                <a:latin typeface="LinLibertineTBI"/>
              </a:rPr>
              <a:t>Transformer w/ proposal </a:t>
            </a:r>
            <a:r>
              <a:rPr lang="en-US" altLang="zh-CN" sz="1800" b="0" i="0" u="none" strike="noStrike" baseline="0" dirty="0">
                <a:latin typeface="LinLibertineTB"/>
              </a:rPr>
              <a:t>outperforms the ORT and HIP substantially in major metrics, which proves our arguments and demonstrates the effectiveness of our approach. In particular, </a:t>
            </a:r>
            <a:r>
              <a:rPr lang="en-US" altLang="zh-CN" sz="1200" b="0" i="0" u="none" strike="noStrike" baseline="0" dirty="0">
                <a:latin typeface="LinLibertineT"/>
              </a:rPr>
              <a:t>by using our proposed textual-enriched image features, improvements of up to </a:t>
            </a:r>
            <a:r>
              <a:rPr lang="en-US" altLang="zh-CN" sz="1200" b="0" i="0" u="none" strike="noStrike" baseline="0" dirty="0">
                <a:solidFill>
                  <a:srgbClr val="EA0000"/>
                </a:solidFill>
                <a:latin typeface="LinLibertineT"/>
              </a:rPr>
              <a:t>10% </a:t>
            </a:r>
            <a:r>
              <a:rPr lang="en-US" altLang="zh-CN" sz="1200" b="0" i="0" u="none" strike="noStrike" baseline="0" dirty="0">
                <a:latin typeface="LinLibertineT"/>
              </a:rPr>
              <a:t>and </a:t>
            </a:r>
            <a:r>
              <a:rPr lang="en-US" altLang="zh-CN" sz="1200" b="0" i="0" u="none" strike="noStrike" baseline="0" dirty="0">
                <a:solidFill>
                  <a:srgbClr val="EA0000"/>
                </a:solidFill>
                <a:latin typeface="LinLibertineT"/>
              </a:rPr>
              <a:t>9% </a:t>
            </a:r>
            <a:r>
              <a:rPr lang="en-US" altLang="zh-CN" sz="1200" b="0" i="0" u="none" strike="noStrike" baseline="0" dirty="0">
                <a:latin typeface="LinLibertineT"/>
              </a:rPr>
              <a:t>in terms of </a:t>
            </a:r>
            <a:r>
              <a:rPr lang="en-US" altLang="zh-CN" sz="1200" b="0" i="0" u="none" strike="noStrike" baseline="0" dirty="0" err="1">
                <a:latin typeface="LinLibertineT"/>
              </a:rPr>
              <a:t>CIDEr</a:t>
            </a:r>
            <a:r>
              <a:rPr lang="en-US" altLang="zh-CN" sz="1200" b="0" i="0" u="none" strike="noStrike" baseline="0" dirty="0">
                <a:latin typeface="LinLibertineT"/>
              </a:rPr>
              <a:t> and SPICE can be achieved.</a:t>
            </a:r>
            <a:endParaRPr lang="zh-CN" altLang="en-US" dirty="0"/>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14</a:t>
            </a:fld>
            <a:endParaRPr lang="en-US" altLang="zh-CN"/>
          </a:p>
        </p:txBody>
      </p:sp>
    </p:spTree>
    <p:extLst>
      <p:ext uri="{BB962C8B-B14F-4D97-AF65-F5344CB8AC3E}">
        <p14:creationId xmlns:p14="http://schemas.microsoft.com/office/powerpoint/2010/main" val="3072600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dirty="0"/>
              <a:t>This slide shows the </a:t>
            </a:r>
            <a:r>
              <a:rPr lang="en-US" altLang="zh-CN" sz="1800" b="0" i="0" u="none" strike="noStrike" baseline="0" dirty="0">
                <a:latin typeface="LinLibertineTB"/>
              </a:rPr>
              <a:t>performance on the Flickr30k dataset. B-n, M, R, C and S are short for BLEU-n, METEOR, ROUGEL, </a:t>
            </a:r>
            <a:r>
              <a:rPr lang="en-US" altLang="zh-CN" sz="1800" b="0" i="0" u="none" strike="noStrike" baseline="0" dirty="0" err="1">
                <a:latin typeface="LinLibertineTB"/>
              </a:rPr>
              <a:t>CIDEr</a:t>
            </a:r>
            <a:r>
              <a:rPr lang="en-US" altLang="zh-CN" sz="1800" b="0" i="0" u="none" strike="noStrike" baseline="0" dirty="0">
                <a:latin typeface="LinLibertineTB"/>
              </a:rPr>
              <a:t> and SPICE, respectively. The GVD [55] is the published state-of-the-art model on Flickr30k dataset. As we can see, we outperforms the state-of-the-art model substantially in terms of </a:t>
            </a:r>
            <a:r>
              <a:rPr lang="en-US" altLang="zh-CN" sz="1800" b="0" i="0" u="none" strike="noStrike" baseline="0" dirty="0" err="1">
                <a:latin typeface="LinLibertineTB"/>
              </a:rPr>
              <a:t>CIDEr</a:t>
            </a:r>
            <a:r>
              <a:rPr lang="en-US" altLang="zh-CN" sz="1800" b="0" i="0" u="none" strike="noStrike" baseline="0" dirty="0">
                <a:latin typeface="LinLibertineTB"/>
              </a:rPr>
              <a:t>. </a:t>
            </a:r>
            <a:r>
              <a:rPr lang="en-US" altLang="zh-CN" sz="1800" b="0" i="0" u="none" strike="noStrike" kern="1200" baseline="0" dirty="0">
                <a:solidFill>
                  <a:schemeClr val="tx1"/>
                </a:solidFill>
                <a:latin typeface="LinLibertineTB"/>
                <a:ea typeface="+mn-ea"/>
                <a:cs typeface="+mn-cs"/>
              </a:rPr>
              <a:t>In particular, </a:t>
            </a:r>
            <a:r>
              <a:rPr lang="en-US" altLang="zh-CN" sz="1200" b="0" i="0" u="none" strike="noStrike" baseline="0" dirty="0">
                <a:latin typeface="LinLibertineT"/>
              </a:rPr>
              <a:t>improvements of 6% and 9% with respect to </a:t>
            </a:r>
            <a:r>
              <a:rPr lang="en-US" altLang="zh-CN" sz="1200" b="0" i="0" u="none" strike="noStrike" baseline="0" dirty="0" err="1">
                <a:latin typeface="LinLibertineT"/>
              </a:rPr>
              <a:t>CIDEr</a:t>
            </a:r>
            <a:r>
              <a:rPr lang="en-US" altLang="zh-CN" sz="1200" b="0" i="0" u="none" strike="noStrike" baseline="0" dirty="0">
                <a:latin typeface="LinLibertineT"/>
              </a:rPr>
              <a:t> and SPICE are achieved respectively when applying the proposal to the models that employ both image features and textual concepts. The experimental results demonstrate that the improvement comes from the textual-enriched image features rather than simple incorporation of textual concepts.</a:t>
            </a:r>
            <a:endParaRPr lang="en-US" altLang="zh-CN" sz="1200" b="0" i="0" kern="1200" dirty="0">
              <a:solidFill>
                <a:schemeClr val="tx1"/>
              </a:solidFill>
              <a:latin typeface="+mn-lt"/>
              <a:ea typeface="+mn-ea"/>
              <a:cs typeface="+mn-cs"/>
            </a:endParaRPr>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15</a:t>
            </a:fld>
            <a:endParaRPr lang="en-US" altLang="zh-CN"/>
          </a:p>
        </p:txBody>
      </p:sp>
    </p:spTree>
    <p:extLst>
      <p:ext uri="{BB962C8B-B14F-4D97-AF65-F5344CB8AC3E}">
        <p14:creationId xmlns:p14="http://schemas.microsoft.com/office/powerpoint/2010/main" val="140032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a:t>
            </a:r>
            <a:r>
              <a:rPr lang="en-US" altLang="zh-CN" baseline="0" dirty="0"/>
              <a:t> the conclusions of our work are as follow:</a:t>
            </a:r>
            <a:endParaRPr lang="en-US" altLang="zh-CN" dirty="0"/>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16</a:t>
            </a:fld>
            <a:endParaRPr lang="en-US" altLang="zh-CN"/>
          </a:p>
        </p:txBody>
      </p:sp>
    </p:spTree>
    <p:extLst>
      <p:ext uri="{BB962C8B-B14F-4D97-AF65-F5344CB8AC3E}">
        <p14:creationId xmlns:p14="http://schemas.microsoft.com/office/powerpoint/2010/main" val="24651191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a:t>
            </a:r>
            <a:r>
              <a:rPr lang="zh-CN" altLang="en-US" dirty="0"/>
              <a:t>，</a:t>
            </a:r>
            <a:endParaRPr lang="en-US" altLang="zh-CN" dirty="0"/>
          </a:p>
          <a:p>
            <a:r>
              <a:rPr lang="en-US" altLang="zh-CN" dirty="0"/>
              <a:t>Second,</a:t>
            </a:r>
            <a:r>
              <a:rPr lang="en-US" altLang="zh-CN" sz="1200" dirty="0"/>
              <a:t> </a:t>
            </a:r>
          </a:p>
          <a:p>
            <a:r>
              <a:rPr lang="en-US" altLang="zh-CN" dirty="0"/>
              <a:t>At last,</a:t>
            </a:r>
            <a:r>
              <a:rPr lang="en-US" altLang="zh-CN" sz="1200" dirty="0"/>
              <a:t> </a:t>
            </a:r>
            <a:endParaRPr lang="zh-CN" altLang="en-US" dirty="0"/>
          </a:p>
        </p:txBody>
      </p:sp>
      <p:sp>
        <p:nvSpPr>
          <p:cNvPr id="4" name="页眉占位符 3"/>
          <p:cNvSpPr>
            <a:spLocks noGrp="1"/>
          </p:cNvSpPr>
          <p:nvPr>
            <p:ph type="hdr" sz="quarter" idx="10"/>
          </p:nvPr>
        </p:nvSpPr>
        <p:spPr/>
        <p:txBody>
          <a:bodyPr/>
          <a:lstStyle/>
          <a:p>
            <a:pPr>
              <a:defRPr/>
            </a:pPr>
            <a:r>
              <a:rPr lang="en-US"/>
              <a:t>C. Faloutsos</a:t>
            </a:r>
          </a:p>
        </p:txBody>
      </p:sp>
      <p:sp>
        <p:nvSpPr>
          <p:cNvPr id="5" name="日期占位符 4"/>
          <p:cNvSpPr>
            <a:spLocks noGrp="1"/>
          </p:cNvSpPr>
          <p:nvPr>
            <p:ph type="dt" idx="11"/>
          </p:nvPr>
        </p:nvSpPr>
        <p:spPr/>
        <p:txBody>
          <a:bodyPr/>
          <a:lstStyle/>
          <a:p>
            <a:pPr>
              <a:defRPr/>
            </a:pPr>
            <a:r>
              <a:rPr lang="en-US"/>
              <a:t>15-826</a:t>
            </a:r>
          </a:p>
        </p:txBody>
      </p:sp>
      <p:sp>
        <p:nvSpPr>
          <p:cNvPr id="6" name="灯片编号占位符 5"/>
          <p:cNvSpPr>
            <a:spLocks noGrp="1"/>
          </p:cNvSpPr>
          <p:nvPr>
            <p:ph type="sldNum" sz="quarter" idx="12"/>
          </p:nvPr>
        </p:nvSpPr>
        <p:spPr/>
        <p:txBody>
          <a:bodyPr/>
          <a:lstStyle/>
          <a:p>
            <a:fld id="{4B6403A9-0895-423F-AEE9-C4CB2D5A70B3}" type="slidenum">
              <a:rPr lang="en-US" altLang="zh-CN" smtClean="0"/>
              <a:pPr/>
              <a:t>17</a:t>
            </a:fld>
            <a:endParaRPr lang="en-US" altLang="zh-CN"/>
          </a:p>
        </p:txBody>
      </p:sp>
    </p:spTree>
    <p:extLst>
      <p:ext uri="{BB962C8B-B14F-4D97-AF65-F5344CB8AC3E}">
        <p14:creationId xmlns:p14="http://schemas.microsoft.com/office/powerpoint/2010/main" val="15568585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dirty="0"/>
              <a:t>Thank</a:t>
            </a:r>
            <a:r>
              <a:rPr kumimoji="1" lang="en-US" altLang="zh-CN" baseline="0" dirty="0"/>
              <a:t> you! </a:t>
            </a:r>
            <a:r>
              <a:rPr lang="en-US" altLang="zh-CN" sz="1200" dirty="0"/>
              <a:t>If you have any questions about our paper, you can send an email to </a:t>
            </a:r>
            <a:r>
              <a:rPr lang="en-US" altLang="zh-CN" sz="1200" dirty="0">
                <a:solidFill>
                  <a:srgbClr val="FF0000"/>
                </a:solidFill>
              </a:rPr>
              <a:t>it.</a:t>
            </a:r>
            <a:endParaRPr lang="zh-CN" altLang="en-US" sz="1200" dirty="0">
              <a:solidFill>
                <a:srgbClr val="FF0000"/>
              </a:solidFill>
            </a:endParaRPr>
          </a:p>
        </p:txBody>
      </p:sp>
      <p:sp>
        <p:nvSpPr>
          <p:cNvPr id="4" name="页眉占位符 3"/>
          <p:cNvSpPr>
            <a:spLocks noGrp="1"/>
          </p:cNvSpPr>
          <p:nvPr>
            <p:ph type="hdr" sz="quarter"/>
          </p:nvPr>
        </p:nvSpPr>
        <p:spPr/>
        <p:txBody>
          <a:bodyPr/>
          <a:lstStyle/>
          <a:p>
            <a:pPr>
              <a:defRPr/>
            </a:pPr>
            <a:r>
              <a:rPr lang="en-US"/>
              <a:t>C. Faloutsos</a:t>
            </a:r>
          </a:p>
        </p:txBody>
      </p:sp>
      <p:sp>
        <p:nvSpPr>
          <p:cNvPr id="5" name="日期占位符 4"/>
          <p:cNvSpPr>
            <a:spLocks noGrp="1"/>
          </p:cNvSpPr>
          <p:nvPr>
            <p:ph type="dt" idx="1"/>
          </p:nvPr>
        </p:nvSpPr>
        <p:spPr/>
        <p:txBody>
          <a:bodyPr/>
          <a:lstStyle/>
          <a:p>
            <a:pPr>
              <a:defRPr/>
            </a:pPr>
            <a:r>
              <a:rPr lang="en-US"/>
              <a:t>15-826</a:t>
            </a:r>
          </a:p>
        </p:txBody>
      </p:sp>
      <p:sp>
        <p:nvSpPr>
          <p:cNvPr id="6" name="灯片编号占位符 5"/>
          <p:cNvSpPr>
            <a:spLocks noGrp="1"/>
          </p:cNvSpPr>
          <p:nvPr>
            <p:ph type="sldNum" sz="quarter" idx="5"/>
          </p:nvPr>
        </p:nvSpPr>
        <p:spPr/>
        <p:txBody>
          <a:bodyPr/>
          <a:lstStyle/>
          <a:p>
            <a:fld id="{4B6403A9-0895-423F-AEE9-C4CB2D5A70B3}" type="slidenum">
              <a:rPr lang="en-US" altLang="zh-CN" smtClean="0"/>
              <a:pPr/>
              <a:t>18</a:t>
            </a:fld>
            <a:endParaRPr lang="en-US" altLang="zh-CN"/>
          </a:p>
        </p:txBody>
      </p:sp>
    </p:spTree>
    <p:extLst>
      <p:ext uri="{BB962C8B-B14F-4D97-AF65-F5344CB8AC3E}">
        <p14:creationId xmlns:p14="http://schemas.microsoft.com/office/powerpoint/2010/main" val="2540398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1DAFA3-DA37-4679-894C-661BF8EC8781}"/>
              </a:ext>
            </a:extLst>
          </p:cNvPr>
          <p:cNvSpPr>
            <a:spLocks noGrp="1"/>
          </p:cNvSpPr>
          <p:nvPr>
            <p:ph type="ctrTitle"/>
          </p:nvPr>
        </p:nvSpPr>
        <p:spPr>
          <a:xfrm>
            <a:off x="1504336" y="1338673"/>
            <a:ext cx="9144000" cy="2387600"/>
          </a:xfrm>
        </p:spPr>
        <p:txBody>
          <a:bodyPr lIns="36000" rIns="36000" anchor="ctr" anchorCtr="0"/>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3DAF3009-14E6-476A-A1A5-2532F7D13B73}"/>
              </a:ext>
            </a:extLst>
          </p:cNvPr>
          <p:cNvSpPr>
            <a:spLocks noGrp="1"/>
          </p:cNvSpPr>
          <p:nvPr>
            <p:ph type="subTitle" idx="1"/>
          </p:nvPr>
        </p:nvSpPr>
        <p:spPr>
          <a:xfrm>
            <a:off x="1504336" y="3818348"/>
            <a:ext cx="9144000" cy="1655762"/>
          </a:xfrm>
        </p:spPr>
        <p:txBody>
          <a:bodyPr lIns="36000" rIns="36000" anchor="ctr" anchorCtr="0"/>
          <a:lstStyle>
            <a:lvl1pPr marL="0" indent="0" algn="ctr">
              <a:buNone/>
              <a:defRPr sz="2400">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5" name="页脚占位符 4">
            <a:extLst>
              <a:ext uri="{FF2B5EF4-FFF2-40B4-BE49-F238E27FC236}">
                <a16:creationId xmlns:a16="http://schemas.microsoft.com/office/drawing/2014/main" id="{C296D61D-14A3-406B-9CCC-FBF220B1B5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590982-5567-4E70-969C-AB8208D951E6}"/>
              </a:ext>
            </a:extLst>
          </p:cNvPr>
          <p:cNvSpPr>
            <a:spLocks noGrp="1"/>
          </p:cNvSpPr>
          <p:nvPr>
            <p:ph type="sldNum" sz="quarter" idx="12"/>
          </p:nvPr>
        </p:nvSpPr>
        <p:spPr/>
        <p:txBody>
          <a:bodyPr/>
          <a:lstStyle/>
          <a:p>
            <a:fld id="{4A18A185-547B-4CD2-B088-BB6B5FE5B7CE}" type="slidenum">
              <a:rPr lang="zh-CN" altLang="en-US" smtClean="0"/>
              <a:pPr/>
              <a:t>‹#›</a:t>
            </a:fld>
            <a:endParaRPr lang="zh-CN" altLang="en-US"/>
          </a:p>
        </p:txBody>
      </p:sp>
    </p:spTree>
    <p:extLst>
      <p:ext uri="{BB962C8B-B14F-4D97-AF65-F5344CB8AC3E}">
        <p14:creationId xmlns:p14="http://schemas.microsoft.com/office/powerpoint/2010/main" val="2683606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1A70BB-6DF9-4A96-81C9-ECE36D82D63C}"/>
              </a:ext>
            </a:extLst>
          </p:cNvPr>
          <p:cNvSpPr>
            <a:spLocks noGrp="1"/>
          </p:cNvSpPr>
          <p:nvPr>
            <p:ph type="title"/>
          </p:nvPr>
        </p:nvSpPr>
        <p:spPr>
          <a:xfrm>
            <a:off x="533400" y="214124"/>
            <a:ext cx="10820400" cy="926419"/>
          </a:xfrm>
        </p:spPr>
        <p:txBody>
          <a:bodyPr lIns="36000" tIns="36000" rIns="36000" bIns="36000">
            <a:normAutofit/>
          </a:bodyPr>
          <a:lstStyle>
            <a:lvl1pPr>
              <a:defRPr sz="4000"/>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593372EF-4749-4496-B562-EDE5E7EA9C0E}"/>
              </a:ext>
            </a:extLst>
          </p:cNvPr>
          <p:cNvSpPr>
            <a:spLocks noGrp="1"/>
          </p:cNvSpPr>
          <p:nvPr>
            <p:ph idx="1" hasCustomPrompt="1"/>
          </p:nvPr>
        </p:nvSpPr>
        <p:spPr>
          <a:xfrm>
            <a:off x="533400" y="1453776"/>
            <a:ext cx="10820400" cy="4723187"/>
          </a:xfrm>
        </p:spPr>
        <p:txBody>
          <a:bodyPr lIns="36000" tIns="72000" rIns="36000" bIns="36000" anchor="t" anchorCtr="0"/>
          <a:lstStyle>
            <a:lvl1pPr marL="288000" indent="-288000">
              <a:lnSpc>
                <a:spcPct val="100000"/>
              </a:lnSpc>
              <a:spcBef>
                <a:spcPts val="600"/>
              </a:spcBef>
              <a:buClr>
                <a:srgbClr val="C00000"/>
              </a:buClr>
              <a:buSzPct val="85000"/>
              <a:buFont typeface="Wingdings" panose="05000000000000000000" pitchFamily="2" charset="2"/>
              <a:buChar char="l"/>
              <a:defRPr>
                <a:latin typeface="Times New Roman" panose="02020603050405020304" pitchFamily="18" charset="0"/>
                <a:ea typeface="+mj-ea"/>
                <a:cs typeface="Times New Roman" panose="02020603050405020304" pitchFamily="18" charset="0"/>
              </a:defRPr>
            </a:lvl1pPr>
            <a:lvl2pPr marL="685800" indent="-228600">
              <a:lnSpc>
                <a:spcPct val="100000"/>
              </a:lnSpc>
              <a:spcBef>
                <a:spcPts val="600"/>
              </a:spcBef>
              <a:buClr>
                <a:schemeClr val="accent4">
                  <a:lumMod val="75000"/>
                </a:schemeClr>
              </a:buClr>
              <a:buSzPct val="80000"/>
              <a:buFont typeface="Wingdings" panose="05000000000000000000" pitchFamily="2" charset="2"/>
              <a:buChar char="Ø"/>
              <a:defRPr sz="2600">
                <a:latin typeface="Times New Roman" panose="02020603050405020304" pitchFamily="18" charset="0"/>
                <a:ea typeface="楷体" panose="02010609060101010101" pitchFamily="49" charset="-122"/>
                <a:cs typeface="Times New Roman" panose="02020603050405020304" pitchFamily="18" charset="0"/>
              </a:defRPr>
            </a:lvl2pPr>
            <a:lvl3pPr marL="1143000" indent="-228600">
              <a:lnSpc>
                <a:spcPct val="100000"/>
              </a:lnSpc>
              <a:buFont typeface="Wingdings" panose="05000000000000000000" pitchFamily="2" charset="2"/>
              <a:buChar char="ü"/>
              <a:defRPr sz="2300">
                <a:latin typeface="Times New Roman" panose="02020603050405020304" pitchFamily="18" charset="0"/>
                <a:ea typeface="楷体" panose="02010609060101010101" pitchFamily="49" charset="-122"/>
                <a:cs typeface="Times New Roman" panose="02020603050405020304" pitchFamily="18" charset="0"/>
              </a:defRPr>
            </a:lvl3pPr>
            <a:lvl4pPr>
              <a:defRPr>
                <a:latin typeface="Times New Roman" panose="02020603050405020304" pitchFamily="18" charset="0"/>
                <a:ea typeface="楷体" panose="02010609060101010101" pitchFamily="49" charset="-122"/>
                <a:cs typeface="Times New Roman" panose="02020603050405020304" pitchFamily="18" charset="0"/>
              </a:defRPr>
            </a:lvl4pPr>
            <a:lvl5pPr>
              <a:defRPr>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 编辑母版文本样式</a:t>
            </a:r>
          </a:p>
          <a:p>
            <a:pPr lvl="1"/>
            <a:r>
              <a:rPr lang="zh-CN" altLang="en-US" dirty="0"/>
              <a:t> 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a:extLst>
              <a:ext uri="{FF2B5EF4-FFF2-40B4-BE49-F238E27FC236}">
                <a16:creationId xmlns:a16="http://schemas.microsoft.com/office/drawing/2014/main" id="{1D07C36D-3666-46F4-BFFC-C134653B5F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8AC343-F4DF-4FBB-A4B2-652AB7604C29}"/>
              </a:ext>
            </a:extLst>
          </p:cNvPr>
          <p:cNvSpPr>
            <a:spLocks noGrp="1"/>
          </p:cNvSpPr>
          <p:nvPr>
            <p:ph type="sldNum" sz="quarter" idx="12"/>
          </p:nvPr>
        </p:nvSpPr>
        <p:spPr/>
        <p:txBody>
          <a:bodyPr/>
          <a:lstStyle/>
          <a:p>
            <a:fld id="{4A18A185-547B-4CD2-B088-BB6B5FE5B7CE}" type="slidenum">
              <a:rPr lang="zh-CN" altLang="en-US" smtClean="0"/>
              <a:pPr/>
              <a:t>‹#›</a:t>
            </a:fld>
            <a:endParaRPr lang="zh-CN" altLang="en-US"/>
          </a:p>
        </p:txBody>
      </p:sp>
      <p:cxnSp>
        <p:nvCxnSpPr>
          <p:cNvPr id="10" name="直接连接符 9"/>
          <p:cNvCxnSpPr/>
          <p:nvPr userDrawn="1"/>
        </p:nvCxnSpPr>
        <p:spPr>
          <a:xfrm>
            <a:off x="31899" y="561699"/>
            <a:ext cx="0" cy="529684"/>
          </a:xfrm>
          <a:prstGeom prst="line">
            <a:avLst/>
          </a:prstGeom>
          <a:ln w="69850">
            <a:solidFill>
              <a:srgbClr val="EA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99235" y="778150"/>
            <a:ext cx="0" cy="324000"/>
          </a:xfrm>
          <a:prstGeom prst="line">
            <a:avLst/>
          </a:prstGeom>
          <a:ln w="698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rot="16200000">
            <a:off x="11941398" y="933459"/>
            <a:ext cx="0" cy="529684"/>
          </a:xfrm>
          <a:prstGeom prst="line">
            <a:avLst/>
          </a:prstGeom>
          <a:ln w="63500">
            <a:solidFill>
              <a:srgbClr val="EA0000"/>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407A1585-7877-4BC2-8D69-D7D8B603D1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94570" y="6315932"/>
            <a:ext cx="1587721" cy="445959"/>
          </a:xfrm>
          <a:prstGeom prst="rect">
            <a:avLst/>
          </a:prstGeom>
        </p:spPr>
      </p:pic>
    </p:spTree>
    <p:extLst>
      <p:ext uri="{BB962C8B-B14F-4D97-AF65-F5344CB8AC3E}">
        <p14:creationId xmlns:p14="http://schemas.microsoft.com/office/powerpoint/2010/main" val="205136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ADA979-0F27-43DF-84E4-0D41FCA3ACB4}"/>
              </a:ext>
            </a:extLst>
          </p:cNvPr>
          <p:cNvSpPr>
            <a:spLocks noGrp="1"/>
          </p:cNvSpPr>
          <p:nvPr>
            <p:ph type="title"/>
          </p:nvPr>
        </p:nvSpPr>
        <p:spPr>
          <a:xfrm>
            <a:off x="831850" y="1475014"/>
            <a:ext cx="10515600" cy="3087461"/>
          </a:xfrm>
        </p:spPr>
        <p:txBody>
          <a:bodyPr anchor="b">
            <a:normAutofit/>
          </a:bodyPr>
          <a:lstStyle>
            <a:lvl1pPr>
              <a:defRPr sz="4800"/>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8BBC3DA8-61AE-42AF-BF85-90D9F27DAF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5" name="页脚占位符 4">
            <a:extLst>
              <a:ext uri="{FF2B5EF4-FFF2-40B4-BE49-F238E27FC236}">
                <a16:creationId xmlns:a16="http://schemas.microsoft.com/office/drawing/2014/main" id="{0FFCBB48-6715-4938-87EC-5E1EC37C9C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806AE6-6E46-4D90-A84F-6EB94E1CA4F1}"/>
              </a:ext>
            </a:extLst>
          </p:cNvPr>
          <p:cNvSpPr>
            <a:spLocks noGrp="1"/>
          </p:cNvSpPr>
          <p:nvPr>
            <p:ph type="sldNum" sz="quarter" idx="12"/>
          </p:nvPr>
        </p:nvSpPr>
        <p:spPr/>
        <p:txBody>
          <a:bodyPr/>
          <a:lstStyle/>
          <a:p>
            <a:fld id="{4A18A185-547B-4CD2-B088-BB6B5FE5B7CE}" type="slidenum">
              <a:rPr lang="zh-CN" altLang="en-US" smtClean="0"/>
              <a:pPr/>
              <a:t>‹#›</a:t>
            </a:fld>
            <a:endParaRPr lang="zh-CN" altLang="en-US"/>
          </a:p>
        </p:txBody>
      </p:sp>
    </p:spTree>
    <p:extLst>
      <p:ext uri="{BB962C8B-B14F-4D97-AF65-F5344CB8AC3E}">
        <p14:creationId xmlns:p14="http://schemas.microsoft.com/office/powerpoint/2010/main" val="2926637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6" name="页脚占位符 5">
            <a:extLst>
              <a:ext uri="{FF2B5EF4-FFF2-40B4-BE49-F238E27FC236}">
                <a16:creationId xmlns:a16="http://schemas.microsoft.com/office/drawing/2014/main" id="{94E211B0-8FD6-470A-B541-825529DD47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F980CBE-44A4-4A32-BDF7-9174CFCAC7F8}"/>
              </a:ext>
            </a:extLst>
          </p:cNvPr>
          <p:cNvSpPr>
            <a:spLocks noGrp="1"/>
          </p:cNvSpPr>
          <p:nvPr>
            <p:ph type="sldNum" sz="quarter" idx="12"/>
          </p:nvPr>
        </p:nvSpPr>
        <p:spPr/>
        <p:txBody>
          <a:bodyPr/>
          <a:lstStyle/>
          <a:p>
            <a:fld id="{4A18A185-547B-4CD2-B088-BB6B5FE5B7CE}" type="slidenum">
              <a:rPr lang="zh-CN" altLang="en-US" smtClean="0"/>
              <a:pPr/>
              <a:t>‹#›</a:t>
            </a:fld>
            <a:endParaRPr lang="zh-CN" altLang="en-US"/>
          </a:p>
        </p:txBody>
      </p:sp>
      <p:sp>
        <p:nvSpPr>
          <p:cNvPr id="9" name="内容占位符 2">
            <a:extLst>
              <a:ext uri="{FF2B5EF4-FFF2-40B4-BE49-F238E27FC236}">
                <a16:creationId xmlns:a16="http://schemas.microsoft.com/office/drawing/2014/main" id="{593372EF-4749-4496-B562-EDE5E7EA9C0E}"/>
              </a:ext>
            </a:extLst>
          </p:cNvPr>
          <p:cNvSpPr>
            <a:spLocks noGrp="1"/>
          </p:cNvSpPr>
          <p:nvPr>
            <p:ph idx="13" hasCustomPrompt="1"/>
          </p:nvPr>
        </p:nvSpPr>
        <p:spPr>
          <a:xfrm>
            <a:off x="405581" y="1453776"/>
            <a:ext cx="5486400" cy="4723187"/>
          </a:xfrm>
        </p:spPr>
        <p:txBody>
          <a:bodyPr lIns="36000" tIns="72000" rIns="36000" bIns="36000" anchor="t" anchorCtr="0"/>
          <a:lstStyle>
            <a:lvl1pPr marL="288000" indent="-288000">
              <a:lnSpc>
                <a:spcPct val="100000"/>
              </a:lnSpc>
              <a:spcBef>
                <a:spcPts val="600"/>
              </a:spcBef>
              <a:buClr>
                <a:srgbClr val="C00000"/>
              </a:buClr>
              <a:buSzPct val="85000"/>
              <a:buFont typeface="Wingdings" panose="05000000000000000000" pitchFamily="2" charset="2"/>
              <a:buChar char="l"/>
              <a:defRPr>
                <a:latin typeface="Times New Roman" panose="02020603050405020304" pitchFamily="18" charset="0"/>
                <a:ea typeface="+mj-ea"/>
                <a:cs typeface="Times New Roman" panose="02020603050405020304" pitchFamily="18" charset="0"/>
              </a:defRPr>
            </a:lvl1pPr>
            <a:lvl2pPr marL="685800" indent="-228600">
              <a:lnSpc>
                <a:spcPct val="100000"/>
              </a:lnSpc>
              <a:spcBef>
                <a:spcPts val="600"/>
              </a:spcBef>
              <a:buClr>
                <a:schemeClr val="accent4">
                  <a:lumMod val="75000"/>
                </a:schemeClr>
              </a:buClr>
              <a:buSzPct val="80000"/>
              <a:buFont typeface="Wingdings" panose="05000000000000000000" pitchFamily="2" charset="2"/>
              <a:buChar char="Ø"/>
              <a:defRPr sz="2600">
                <a:latin typeface="Times New Roman" panose="02020603050405020304" pitchFamily="18" charset="0"/>
                <a:ea typeface="楷体" panose="02010609060101010101" pitchFamily="49" charset="-122"/>
                <a:cs typeface="Times New Roman" panose="02020603050405020304" pitchFamily="18" charset="0"/>
              </a:defRPr>
            </a:lvl2pPr>
            <a:lvl3pPr marL="1143000" indent="-228600">
              <a:lnSpc>
                <a:spcPct val="100000"/>
              </a:lnSpc>
              <a:buFont typeface="Wingdings" panose="05000000000000000000" pitchFamily="2" charset="2"/>
              <a:buChar char="ü"/>
              <a:defRPr sz="2300">
                <a:latin typeface="Times New Roman" panose="02020603050405020304" pitchFamily="18" charset="0"/>
                <a:ea typeface="楷体" panose="02010609060101010101" pitchFamily="49" charset="-122"/>
                <a:cs typeface="Times New Roman" panose="02020603050405020304" pitchFamily="18" charset="0"/>
              </a:defRPr>
            </a:lvl3pPr>
            <a:lvl4pPr>
              <a:defRPr>
                <a:latin typeface="Times New Roman" panose="02020603050405020304" pitchFamily="18" charset="0"/>
                <a:ea typeface="楷体" panose="02010609060101010101" pitchFamily="49" charset="-122"/>
                <a:cs typeface="Times New Roman" panose="02020603050405020304" pitchFamily="18" charset="0"/>
              </a:defRPr>
            </a:lvl4pPr>
            <a:lvl5pPr>
              <a:defRPr>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 编辑母版文本样式</a:t>
            </a:r>
          </a:p>
          <a:p>
            <a:pPr lvl="1"/>
            <a:r>
              <a:rPr lang="zh-CN" altLang="en-US" dirty="0"/>
              <a:t> 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a:extLst>
              <a:ext uri="{FF2B5EF4-FFF2-40B4-BE49-F238E27FC236}">
                <a16:creationId xmlns:a16="http://schemas.microsoft.com/office/drawing/2014/main" id="{593372EF-4749-4496-B562-EDE5E7EA9C0E}"/>
              </a:ext>
            </a:extLst>
          </p:cNvPr>
          <p:cNvSpPr>
            <a:spLocks noGrp="1"/>
          </p:cNvSpPr>
          <p:nvPr>
            <p:ph idx="14" hasCustomPrompt="1"/>
          </p:nvPr>
        </p:nvSpPr>
        <p:spPr>
          <a:xfrm>
            <a:off x="6231193" y="1453776"/>
            <a:ext cx="5486400" cy="4723187"/>
          </a:xfrm>
        </p:spPr>
        <p:txBody>
          <a:bodyPr lIns="36000" tIns="72000" rIns="36000" bIns="36000" anchor="t" anchorCtr="0"/>
          <a:lstStyle>
            <a:lvl1pPr marL="288000" indent="-288000">
              <a:lnSpc>
                <a:spcPct val="100000"/>
              </a:lnSpc>
              <a:spcBef>
                <a:spcPts val="600"/>
              </a:spcBef>
              <a:buClr>
                <a:srgbClr val="C00000"/>
              </a:buClr>
              <a:buSzPct val="85000"/>
              <a:buFont typeface="Wingdings" panose="05000000000000000000" pitchFamily="2" charset="2"/>
              <a:buChar char="l"/>
              <a:defRPr>
                <a:latin typeface="Times New Roman" panose="02020603050405020304" pitchFamily="18" charset="0"/>
                <a:ea typeface="+mj-ea"/>
                <a:cs typeface="Times New Roman" panose="02020603050405020304" pitchFamily="18" charset="0"/>
              </a:defRPr>
            </a:lvl1pPr>
            <a:lvl2pPr marL="685800" indent="-228600">
              <a:lnSpc>
                <a:spcPct val="100000"/>
              </a:lnSpc>
              <a:spcBef>
                <a:spcPts val="600"/>
              </a:spcBef>
              <a:buClr>
                <a:schemeClr val="accent4">
                  <a:lumMod val="75000"/>
                </a:schemeClr>
              </a:buClr>
              <a:buSzPct val="80000"/>
              <a:buFont typeface="Wingdings" panose="05000000000000000000" pitchFamily="2" charset="2"/>
              <a:buChar char="Ø"/>
              <a:defRPr sz="2600">
                <a:latin typeface="Times New Roman" panose="02020603050405020304" pitchFamily="18" charset="0"/>
                <a:ea typeface="楷体" panose="02010609060101010101" pitchFamily="49" charset="-122"/>
                <a:cs typeface="Times New Roman" panose="02020603050405020304" pitchFamily="18" charset="0"/>
              </a:defRPr>
            </a:lvl2pPr>
            <a:lvl3pPr marL="1143000" indent="-228600">
              <a:lnSpc>
                <a:spcPct val="100000"/>
              </a:lnSpc>
              <a:buFont typeface="Wingdings" panose="05000000000000000000" pitchFamily="2" charset="2"/>
              <a:buChar char="ü"/>
              <a:defRPr sz="2300">
                <a:latin typeface="Times New Roman" panose="02020603050405020304" pitchFamily="18" charset="0"/>
                <a:ea typeface="楷体" panose="02010609060101010101" pitchFamily="49" charset="-122"/>
                <a:cs typeface="Times New Roman" panose="02020603050405020304" pitchFamily="18" charset="0"/>
              </a:defRPr>
            </a:lvl3pPr>
            <a:lvl4pPr>
              <a:defRPr>
                <a:latin typeface="Times New Roman" panose="02020603050405020304" pitchFamily="18" charset="0"/>
                <a:ea typeface="楷体" panose="02010609060101010101" pitchFamily="49" charset="-122"/>
                <a:cs typeface="Times New Roman" panose="02020603050405020304" pitchFamily="18" charset="0"/>
              </a:defRPr>
            </a:lvl4pPr>
            <a:lvl5pPr>
              <a:defRPr>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 编辑母版文本样式</a:t>
            </a:r>
          </a:p>
          <a:p>
            <a:pPr lvl="1"/>
            <a:r>
              <a:rPr lang="zh-CN" altLang="en-US" dirty="0"/>
              <a:t> 第二级</a:t>
            </a:r>
          </a:p>
          <a:p>
            <a:pPr lvl="2"/>
            <a:r>
              <a:rPr lang="zh-CN" altLang="en-US" dirty="0"/>
              <a:t>第三级</a:t>
            </a:r>
          </a:p>
          <a:p>
            <a:pPr lvl="3"/>
            <a:r>
              <a:rPr lang="zh-CN" altLang="en-US" dirty="0"/>
              <a:t>第四级</a:t>
            </a:r>
          </a:p>
          <a:p>
            <a:pPr lvl="4"/>
            <a:r>
              <a:rPr lang="zh-CN" altLang="en-US" dirty="0"/>
              <a:t>第五级</a:t>
            </a:r>
          </a:p>
        </p:txBody>
      </p:sp>
      <p:sp>
        <p:nvSpPr>
          <p:cNvPr id="11" name="标题 1">
            <a:extLst>
              <a:ext uri="{FF2B5EF4-FFF2-40B4-BE49-F238E27FC236}">
                <a16:creationId xmlns:a16="http://schemas.microsoft.com/office/drawing/2014/main" id="{4D1A70BB-6DF9-4A96-81C9-ECE36D82D63C}"/>
              </a:ext>
            </a:extLst>
          </p:cNvPr>
          <p:cNvSpPr>
            <a:spLocks noGrp="1"/>
          </p:cNvSpPr>
          <p:nvPr>
            <p:ph type="title"/>
          </p:nvPr>
        </p:nvSpPr>
        <p:spPr>
          <a:xfrm>
            <a:off x="533400" y="214124"/>
            <a:ext cx="10820400" cy="926419"/>
          </a:xfrm>
        </p:spPr>
        <p:txBody>
          <a:bodyPr lIns="36000" tIns="36000" rIns="36000" bIns="36000">
            <a:normAutofit/>
          </a:bodyPr>
          <a:lstStyle>
            <a:lvl1pPr>
              <a:defRPr sz="4000"/>
            </a:lvl1pPr>
          </a:lstStyle>
          <a:p>
            <a:r>
              <a:rPr lang="zh-CN" altLang="en-US" dirty="0"/>
              <a:t>单击此处编辑母版标题样式</a:t>
            </a:r>
          </a:p>
        </p:txBody>
      </p:sp>
    </p:spTree>
    <p:extLst>
      <p:ext uri="{BB962C8B-B14F-4D97-AF65-F5344CB8AC3E}">
        <p14:creationId xmlns:p14="http://schemas.microsoft.com/office/powerpoint/2010/main" val="583531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55149A-14A8-47A5-AEBC-14D0DEF3CBC7}"/>
              </a:ext>
            </a:extLst>
          </p:cNvPr>
          <p:cNvSpPr>
            <a:spLocks noGrp="1"/>
          </p:cNvSpPr>
          <p:nvPr>
            <p:ph type="title"/>
          </p:nvPr>
        </p:nvSpPr>
        <p:spPr>
          <a:xfrm>
            <a:off x="839788" y="250371"/>
            <a:ext cx="10515600" cy="957943"/>
          </a:xfrm>
        </p:spPr>
        <p:txBody>
          <a:bodyPr lIns="36000" tIns="36000" rIns="36000" bIns="36000"/>
          <a:lstStyle/>
          <a:p>
            <a:r>
              <a:rPr lang="zh-CN" altLang="en-US"/>
              <a:t>单击此处编辑母版标题样式</a:t>
            </a:r>
          </a:p>
        </p:txBody>
      </p:sp>
      <p:sp>
        <p:nvSpPr>
          <p:cNvPr id="3" name="文本占位符 2">
            <a:extLst>
              <a:ext uri="{FF2B5EF4-FFF2-40B4-BE49-F238E27FC236}">
                <a16:creationId xmlns:a16="http://schemas.microsoft.com/office/drawing/2014/main" id="{D05AA68C-672C-4B06-81F4-D27615A7E406}"/>
              </a:ext>
            </a:extLst>
          </p:cNvPr>
          <p:cNvSpPr>
            <a:spLocks noGrp="1"/>
          </p:cNvSpPr>
          <p:nvPr>
            <p:ph type="body" idx="1"/>
          </p:nvPr>
        </p:nvSpPr>
        <p:spPr>
          <a:xfrm>
            <a:off x="839788" y="1550535"/>
            <a:ext cx="5157787" cy="637494"/>
          </a:xfrm>
        </p:spPr>
        <p:txBody>
          <a:bodyPr lIns="36000" tIns="36000" rIns="36000" bIns="3600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833192B4-DF8F-4C78-B6D2-DDDBC2DF4C18}"/>
              </a:ext>
            </a:extLst>
          </p:cNvPr>
          <p:cNvSpPr>
            <a:spLocks noGrp="1"/>
          </p:cNvSpPr>
          <p:nvPr>
            <p:ph sz="half" idx="2"/>
          </p:nvPr>
        </p:nvSpPr>
        <p:spPr>
          <a:xfrm>
            <a:off x="839788" y="2354716"/>
            <a:ext cx="5157787" cy="3834947"/>
          </a:xfrm>
        </p:spPr>
        <p:txBody>
          <a:bodyPr lIns="36000" tIns="36000" rIns="36000" bIns="3600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0186230E-A561-4201-8001-5CE958B17BBB}"/>
              </a:ext>
            </a:extLst>
          </p:cNvPr>
          <p:cNvSpPr>
            <a:spLocks noGrp="1"/>
          </p:cNvSpPr>
          <p:nvPr>
            <p:ph type="body" sz="quarter" idx="3"/>
          </p:nvPr>
        </p:nvSpPr>
        <p:spPr>
          <a:xfrm>
            <a:off x="6172200" y="1550535"/>
            <a:ext cx="5183188" cy="637494"/>
          </a:xfrm>
        </p:spPr>
        <p:txBody>
          <a:bodyPr lIns="36000" tIns="36000" rIns="36000" bIns="3600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C27AF767-09F3-4F02-92F0-6DA7E881AB34}"/>
              </a:ext>
            </a:extLst>
          </p:cNvPr>
          <p:cNvSpPr>
            <a:spLocks noGrp="1"/>
          </p:cNvSpPr>
          <p:nvPr>
            <p:ph sz="quarter" idx="4"/>
          </p:nvPr>
        </p:nvSpPr>
        <p:spPr>
          <a:xfrm>
            <a:off x="6172200" y="2354716"/>
            <a:ext cx="5183188" cy="3834947"/>
          </a:xfrm>
        </p:spPr>
        <p:txBody>
          <a:bodyPr lIns="36000" tIns="36000" rIns="36000" bIns="3600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页脚占位符 7">
            <a:extLst>
              <a:ext uri="{FF2B5EF4-FFF2-40B4-BE49-F238E27FC236}">
                <a16:creationId xmlns:a16="http://schemas.microsoft.com/office/drawing/2014/main" id="{C9004601-20B4-4A2B-A6FD-B3DFA8F3702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8B8B312-3554-4AEA-9E48-E8453BEB4729}"/>
              </a:ext>
            </a:extLst>
          </p:cNvPr>
          <p:cNvSpPr>
            <a:spLocks noGrp="1"/>
          </p:cNvSpPr>
          <p:nvPr>
            <p:ph type="sldNum" sz="quarter" idx="12"/>
          </p:nvPr>
        </p:nvSpPr>
        <p:spPr/>
        <p:txBody>
          <a:bodyPr/>
          <a:lstStyle/>
          <a:p>
            <a:fld id="{4A18A185-547B-4CD2-B088-BB6B5FE5B7CE}" type="slidenum">
              <a:rPr lang="zh-CN" altLang="en-US" smtClean="0"/>
              <a:pPr/>
              <a:t>‹#›</a:t>
            </a:fld>
            <a:endParaRPr lang="zh-CN" altLang="en-US"/>
          </a:p>
        </p:txBody>
      </p:sp>
    </p:spTree>
    <p:extLst>
      <p:ext uri="{BB962C8B-B14F-4D97-AF65-F5344CB8AC3E}">
        <p14:creationId xmlns:p14="http://schemas.microsoft.com/office/powerpoint/2010/main" val="1863936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3CA02B-EE0B-4003-9BAB-114AF08D66E1}"/>
              </a:ext>
            </a:extLst>
          </p:cNvPr>
          <p:cNvSpPr>
            <a:spLocks noGrp="1"/>
          </p:cNvSpPr>
          <p:nvPr>
            <p:ph type="title"/>
          </p:nvPr>
        </p:nvSpPr>
        <p:spPr/>
        <p:txBody>
          <a:bodyPr/>
          <a:lstStyle/>
          <a:p>
            <a:r>
              <a:rPr lang="zh-CN" altLang="en-US"/>
              <a:t>单击此处编辑母版标题样式</a:t>
            </a:r>
          </a:p>
        </p:txBody>
      </p:sp>
      <p:sp>
        <p:nvSpPr>
          <p:cNvPr id="4" name="页脚占位符 3">
            <a:extLst>
              <a:ext uri="{FF2B5EF4-FFF2-40B4-BE49-F238E27FC236}">
                <a16:creationId xmlns:a16="http://schemas.microsoft.com/office/drawing/2014/main" id="{BFAA0C6C-8EDC-41A7-9B98-457E5EB1EBB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7F24393-4489-4B82-B8F6-B7DE39AC9E0C}"/>
              </a:ext>
            </a:extLst>
          </p:cNvPr>
          <p:cNvSpPr>
            <a:spLocks noGrp="1"/>
          </p:cNvSpPr>
          <p:nvPr>
            <p:ph type="sldNum" sz="quarter" idx="12"/>
          </p:nvPr>
        </p:nvSpPr>
        <p:spPr/>
        <p:txBody>
          <a:bodyPr/>
          <a:lstStyle/>
          <a:p>
            <a:fld id="{4A18A185-547B-4CD2-B088-BB6B5FE5B7CE}" type="slidenum">
              <a:rPr lang="zh-CN" altLang="en-US" smtClean="0"/>
              <a:pPr/>
              <a:t>‹#›</a:t>
            </a:fld>
            <a:endParaRPr lang="zh-CN" altLang="en-US"/>
          </a:p>
        </p:txBody>
      </p:sp>
    </p:spTree>
    <p:extLst>
      <p:ext uri="{BB962C8B-B14F-4D97-AF65-F5344CB8AC3E}">
        <p14:creationId xmlns:p14="http://schemas.microsoft.com/office/powerpoint/2010/main" val="3133459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CECF4F52-3460-4FB4-8D84-CF56567D807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82E33AC-BA60-4C3C-8BEC-07A88533F3E3}"/>
              </a:ext>
            </a:extLst>
          </p:cNvPr>
          <p:cNvSpPr>
            <a:spLocks noGrp="1"/>
          </p:cNvSpPr>
          <p:nvPr>
            <p:ph type="sldNum" sz="quarter" idx="12"/>
          </p:nvPr>
        </p:nvSpPr>
        <p:spPr/>
        <p:txBody>
          <a:bodyPr/>
          <a:lstStyle/>
          <a:p>
            <a:fld id="{4A18A185-547B-4CD2-B088-BB6B5FE5B7CE}" type="slidenum">
              <a:rPr lang="zh-CN" altLang="en-US" smtClean="0"/>
              <a:pPr/>
              <a:t>‹#›</a:t>
            </a:fld>
            <a:endParaRPr lang="zh-CN" altLang="en-US"/>
          </a:p>
        </p:txBody>
      </p:sp>
    </p:spTree>
    <p:extLst>
      <p:ext uri="{BB962C8B-B14F-4D97-AF65-F5344CB8AC3E}">
        <p14:creationId xmlns:p14="http://schemas.microsoft.com/office/powerpoint/2010/main" val="2209120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18ADC8-6390-4FC8-AB28-9A0500A08E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8432425-016F-4677-A890-73661FBE35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561961A8-5CAA-488E-93F8-F905203F7A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6" name="页脚占位符 5">
            <a:extLst>
              <a:ext uri="{FF2B5EF4-FFF2-40B4-BE49-F238E27FC236}">
                <a16:creationId xmlns:a16="http://schemas.microsoft.com/office/drawing/2014/main" id="{C395121F-066F-4041-8193-A0A9B2080CE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4771E72-9EEF-4F31-A7D3-D835D774A02A}"/>
              </a:ext>
            </a:extLst>
          </p:cNvPr>
          <p:cNvSpPr>
            <a:spLocks noGrp="1"/>
          </p:cNvSpPr>
          <p:nvPr>
            <p:ph type="sldNum" sz="quarter" idx="12"/>
          </p:nvPr>
        </p:nvSpPr>
        <p:spPr/>
        <p:txBody>
          <a:bodyPr/>
          <a:lstStyle/>
          <a:p>
            <a:fld id="{4A18A185-547B-4CD2-B088-BB6B5FE5B7CE}" type="slidenum">
              <a:rPr lang="zh-CN" altLang="en-US" smtClean="0"/>
              <a:pPr/>
              <a:t>‹#›</a:t>
            </a:fld>
            <a:endParaRPr lang="zh-CN" altLang="en-US"/>
          </a:p>
        </p:txBody>
      </p:sp>
    </p:spTree>
    <p:extLst>
      <p:ext uri="{BB962C8B-B14F-4D97-AF65-F5344CB8AC3E}">
        <p14:creationId xmlns:p14="http://schemas.microsoft.com/office/powerpoint/2010/main" val="586596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5E5C37-F9EA-4396-BD85-BB00747752F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E2C59C4-53D1-4A73-8A84-6956C26040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4905134-B895-45F2-A23C-F79DBA2A54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6" name="页脚占位符 5">
            <a:extLst>
              <a:ext uri="{FF2B5EF4-FFF2-40B4-BE49-F238E27FC236}">
                <a16:creationId xmlns:a16="http://schemas.microsoft.com/office/drawing/2014/main" id="{A3D16C13-BFE0-4117-AA0C-C270C3BABB4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B16FF53-6E92-4B5C-AABD-6B5E7F43F670}"/>
              </a:ext>
            </a:extLst>
          </p:cNvPr>
          <p:cNvSpPr>
            <a:spLocks noGrp="1"/>
          </p:cNvSpPr>
          <p:nvPr>
            <p:ph type="sldNum" sz="quarter" idx="12"/>
          </p:nvPr>
        </p:nvSpPr>
        <p:spPr/>
        <p:txBody>
          <a:bodyPr/>
          <a:lstStyle/>
          <a:p>
            <a:fld id="{4A18A185-547B-4CD2-B088-BB6B5FE5B7CE}" type="slidenum">
              <a:rPr lang="zh-CN" altLang="en-US" smtClean="0"/>
              <a:pPr/>
              <a:t>‹#›</a:t>
            </a:fld>
            <a:endParaRPr lang="zh-CN" altLang="en-US"/>
          </a:p>
        </p:txBody>
      </p:sp>
    </p:spTree>
    <p:extLst>
      <p:ext uri="{BB962C8B-B14F-4D97-AF65-F5344CB8AC3E}">
        <p14:creationId xmlns:p14="http://schemas.microsoft.com/office/powerpoint/2010/main" val="3233075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22B58A-0F9B-4520-8F5B-7216459F804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4B2C894-755B-45C9-B9F7-8CB5AB133366}"/>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a:extLst>
              <a:ext uri="{FF2B5EF4-FFF2-40B4-BE49-F238E27FC236}">
                <a16:creationId xmlns:a16="http://schemas.microsoft.com/office/drawing/2014/main" id="{26C59889-F3E7-44C3-9B19-DB0460C69A8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D02A5D-7EA2-4CD5-81FC-994B87B13338}"/>
              </a:ext>
            </a:extLst>
          </p:cNvPr>
          <p:cNvSpPr>
            <a:spLocks noGrp="1"/>
          </p:cNvSpPr>
          <p:nvPr>
            <p:ph type="sldNum" sz="quarter" idx="12"/>
          </p:nvPr>
        </p:nvSpPr>
        <p:spPr/>
        <p:txBody>
          <a:bodyPr/>
          <a:lstStyle/>
          <a:p>
            <a:fld id="{4A18A185-547B-4CD2-B088-BB6B5FE5B7CE}" type="slidenum">
              <a:rPr lang="zh-CN" altLang="en-US" smtClean="0"/>
              <a:pPr/>
              <a:t>‹#›</a:t>
            </a:fld>
            <a:endParaRPr lang="zh-CN" altLang="en-US"/>
          </a:p>
        </p:txBody>
      </p:sp>
    </p:spTree>
    <p:extLst>
      <p:ext uri="{BB962C8B-B14F-4D97-AF65-F5344CB8AC3E}">
        <p14:creationId xmlns:p14="http://schemas.microsoft.com/office/powerpoint/2010/main" val="325519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12800" y="116632"/>
            <a:ext cx="10566400" cy="1143000"/>
          </a:xfrm>
        </p:spPr>
        <p:txBody>
          <a:bodyPr anchor="ctr" anchorCtr="0">
            <a:normAutofit/>
          </a:bodyPr>
          <a:lstStyle>
            <a:lvl1pPr algn="ctr">
              <a:defRPr sz="4000" cap="none" baseline="0">
                <a:latin typeface="华文新魏" panose="02010800040101010101" pitchFamily="2" charset="-122"/>
                <a:ea typeface="华文新魏" panose="02010800040101010101" pitchFamily="2" charset="-122"/>
              </a:defRPr>
            </a:lvl1pPr>
          </a:lstStyle>
          <a:p>
            <a:r>
              <a:rPr lang="zh-CN" altLang="en-US" dirty="0"/>
              <a:t>单击此处编辑母版标题样式</a:t>
            </a:r>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48F39E-9C37-485F-AC97-16BB4BDF9F49}" type="slidenum">
              <a:rPr kumimoji="0" lang="en-US" smtClean="0"/>
              <a:pPr/>
              <a:t>‹#›</a:t>
            </a:fld>
            <a:endParaRPr kumimoji="0" lang="en-US"/>
          </a:p>
        </p:txBody>
      </p:sp>
      <p:sp>
        <p:nvSpPr>
          <p:cNvPr id="8" name="Content Placeholder 7"/>
          <p:cNvSpPr>
            <a:spLocks noGrp="1"/>
          </p:cNvSpPr>
          <p:nvPr>
            <p:ph sz="quarter" idx="13"/>
          </p:nvPr>
        </p:nvSpPr>
        <p:spPr>
          <a:xfrm>
            <a:off x="812800" y="1412776"/>
            <a:ext cx="10566400" cy="4608512"/>
          </a:xfrm>
        </p:spPr>
        <p:txBody>
          <a:bodyPr/>
          <a:lstStyle>
            <a:lvl1pPr marL="342900" indent="-342900">
              <a:buClr>
                <a:srgbClr val="FFFF00"/>
              </a:buClr>
              <a:buSzPct val="80000"/>
              <a:buFont typeface="Wingdings" panose="05000000000000000000" pitchFamily="2" charset="2"/>
              <a:buChar char="l"/>
              <a:defRPr sz="2800" b="1" baseline="0">
                <a:latin typeface="楷体" panose="02010609060101010101" pitchFamily="49" charset="-122"/>
                <a:ea typeface="楷体" panose="02010609060101010101" pitchFamily="49" charset="-122"/>
              </a:defRPr>
            </a:lvl1pPr>
            <a:lvl2pPr marL="742950" indent="-285750">
              <a:buClr>
                <a:srgbClr val="FFFF00"/>
              </a:buClr>
              <a:buFont typeface="Wingdings" panose="05000000000000000000" pitchFamily="2" charset="2"/>
              <a:buChar char="Ø"/>
              <a:defRPr lang="zh-CN" altLang="en-US" sz="2400" b="1" kern="1200" spc="30" baseline="0" dirty="0" smtClean="0">
                <a:solidFill>
                  <a:schemeClr val="tx1"/>
                </a:solidFill>
                <a:latin typeface="楷体" panose="02010609060101010101" pitchFamily="49" charset="-122"/>
                <a:ea typeface="楷体" panose="02010609060101010101" pitchFamily="49" charset="-122"/>
                <a:cs typeface="+mn-cs"/>
              </a:defRPr>
            </a:lvl2pPr>
            <a:lvl3pPr marL="1143000" indent="-228600">
              <a:buClr>
                <a:srgbClr val="FFFF00"/>
              </a:buClr>
              <a:buFont typeface="Wingdings" panose="05000000000000000000" pitchFamily="2" charset="2"/>
              <a:buChar char="ü"/>
              <a:defRPr lang="zh-CN" altLang="en-US" sz="2200" b="1" kern="1200" spc="30" baseline="0" dirty="0" smtClean="0">
                <a:solidFill>
                  <a:schemeClr val="tx1"/>
                </a:solidFill>
                <a:latin typeface="楷体" panose="02010609060101010101" pitchFamily="49" charset="-122"/>
                <a:ea typeface="楷体" panose="02010609060101010101" pitchFamily="49" charset="-122"/>
                <a:cs typeface="+mn-cs"/>
              </a:defRPr>
            </a:lvl3pPr>
            <a:lvl4pPr>
              <a:buClr>
                <a:srgbClr val="FFFF00"/>
              </a:buClr>
              <a:defRPr lang="zh-CN" altLang="en-US" sz="2000" b="1" kern="1200" spc="30" baseline="0" dirty="0" smtClean="0">
                <a:solidFill>
                  <a:schemeClr val="tx1"/>
                </a:solidFill>
                <a:latin typeface="楷体" panose="02010609060101010101" pitchFamily="49" charset="-122"/>
                <a:ea typeface="楷体" panose="02010609060101010101" pitchFamily="49" charset="-122"/>
                <a:cs typeface="+mn-cs"/>
              </a:defRPr>
            </a:lvl4pPr>
            <a:lvl5pPr>
              <a:buClr>
                <a:srgbClr val="FFFF00"/>
              </a:buClr>
              <a:defRPr lang="en-US" sz="1800" b="1" kern="1200" spc="30" baseline="0" dirty="0">
                <a:solidFill>
                  <a:schemeClr val="tx1"/>
                </a:solidFill>
                <a:latin typeface="楷体" panose="02010609060101010101" pitchFamily="49" charset="-122"/>
                <a:ea typeface="楷体" panose="02010609060101010101" pitchFamily="49" charset="-122"/>
                <a:cs typeface="+mn-cs"/>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3558946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7337183-16D7-4F9E-8C8C-AB07B53E3370}"/>
              </a:ext>
            </a:extLst>
          </p:cNvPr>
          <p:cNvSpPr>
            <a:spLocks noGrp="1"/>
          </p:cNvSpPr>
          <p:nvPr>
            <p:ph type="title"/>
          </p:nvPr>
        </p:nvSpPr>
        <p:spPr>
          <a:xfrm>
            <a:off x="838200" y="365126"/>
            <a:ext cx="10515600" cy="83441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CDD87C39-E8EB-4A11-BAF2-802F8234D7E5}"/>
              </a:ext>
            </a:extLst>
          </p:cNvPr>
          <p:cNvSpPr>
            <a:spLocks noGrp="1"/>
          </p:cNvSpPr>
          <p:nvPr>
            <p:ph type="body" idx="1"/>
          </p:nvPr>
        </p:nvSpPr>
        <p:spPr>
          <a:xfrm>
            <a:off x="838200" y="1531088"/>
            <a:ext cx="10515600" cy="4711189"/>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a:extLst>
              <a:ext uri="{FF2B5EF4-FFF2-40B4-BE49-F238E27FC236}">
                <a16:creationId xmlns:a16="http://schemas.microsoft.com/office/drawing/2014/main" id="{0EC40965-E366-4A84-AF05-42C2C90636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C0537CA-B35B-4625-8A5C-F30FA5675D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18A185-547B-4CD2-B088-BB6B5FE5B7CE}" type="slidenum">
              <a:rPr lang="zh-CN" altLang="en-US" smtClean="0"/>
              <a:pPr/>
              <a:t>‹#›</a:t>
            </a:fld>
            <a:endParaRPr lang="zh-CN" altLang="en-US"/>
          </a:p>
        </p:txBody>
      </p:sp>
      <p:cxnSp>
        <p:nvCxnSpPr>
          <p:cNvPr id="7" name="直接连接符 6"/>
          <p:cNvCxnSpPr/>
          <p:nvPr userDrawn="1"/>
        </p:nvCxnSpPr>
        <p:spPr>
          <a:xfrm>
            <a:off x="0" y="1219199"/>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31899" y="669851"/>
            <a:ext cx="0" cy="529684"/>
          </a:xfrm>
          <a:prstGeom prst="line">
            <a:avLst/>
          </a:prstGeom>
          <a:ln w="69850">
            <a:solidFill>
              <a:srgbClr val="EA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99235" y="886302"/>
            <a:ext cx="0" cy="324000"/>
          </a:xfrm>
          <a:prstGeom prst="line">
            <a:avLst/>
          </a:prstGeom>
          <a:ln w="698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rot="16200000">
            <a:off x="11941398" y="982619"/>
            <a:ext cx="0" cy="529684"/>
          </a:xfrm>
          <a:prstGeom prst="line">
            <a:avLst/>
          </a:prstGeom>
          <a:ln w="63500">
            <a:solidFill>
              <a:srgbClr val="EA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rot="16200000">
            <a:off x="12030000" y="1145652"/>
            <a:ext cx="0" cy="324000"/>
          </a:xfrm>
          <a:prstGeom prst="line">
            <a:avLst/>
          </a:prstGeom>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a:off x="0" y="1208313"/>
            <a:ext cx="12192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07611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72"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ctrTitle"/>
          </p:nvPr>
        </p:nvSpPr>
        <p:spPr>
          <a:xfrm>
            <a:off x="0" y="1338673"/>
            <a:ext cx="12192000" cy="2387600"/>
          </a:xfrm>
        </p:spPr>
        <p:txBody>
          <a:bodyPr>
            <a:normAutofit/>
          </a:bodyPr>
          <a:lstStyle/>
          <a:p>
            <a:pPr algn="ctr"/>
            <a:r>
              <a:rPr lang="en-US" altLang="zh-CN" sz="4400" b="1" dirty="0">
                <a:solidFill>
                  <a:srgbClr val="8B0012"/>
                </a:solidFill>
                <a:latin typeface="Times New Roman" panose="02020603050405020304" pitchFamily="18" charset="0"/>
                <a:ea typeface="微软雅黑" panose="020B0503020204020204" pitchFamily="34" charset="-122"/>
                <a:cs typeface="Times New Roman" panose="02020603050405020304" pitchFamily="18" charset="0"/>
              </a:rPr>
              <a:t>Bridging the Gap between Vision and Language Domains for Improved Image Captioning</a:t>
            </a:r>
            <a:endParaRPr lang="zh-HK" altLang="en-US" sz="4400" b="1" dirty="0">
              <a:solidFill>
                <a:srgbClr val="8B001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1</a:t>
            </a:fld>
            <a:endParaRPr lang="zh-CN" altLang="en-US"/>
          </a:p>
        </p:txBody>
      </p:sp>
      <p:sp>
        <p:nvSpPr>
          <p:cNvPr id="8" name="副标题 2">
            <a:extLst>
              <a:ext uri="{FF2B5EF4-FFF2-40B4-BE49-F238E27FC236}">
                <a16:creationId xmlns:a16="http://schemas.microsoft.com/office/drawing/2014/main" id="{36FC16D2-A206-4CBE-BB0D-8529FE3CE063}"/>
              </a:ext>
            </a:extLst>
          </p:cNvPr>
          <p:cNvSpPr txBox="1">
            <a:spLocks/>
          </p:cNvSpPr>
          <p:nvPr/>
        </p:nvSpPr>
        <p:spPr>
          <a:xfrm>
            <a:off x="0" y="3859324"/>
            <a:ext cx="12192000" cy="286215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dirty="0" err="1"/>
              <a:t>Fenglin</a:t>
            </a:r>
            <a:r>
              <a:rPr lang="en-US" altLang="zh-CN" dirty="0"/>
              <a:t> Liu¹, Xian Wu</a:t>
            </a:r>
            <a:r>
              <a:rPr lang="en-US" altLang="zh-CN" baseline="30000" dirty="0"/>
              <a:t>2</a:t>
            </a:r>
            <a:r>
              <a:rPr lang="en-US" altLang="zh-CN" dirty="0"/>
              <a:t>, Shen Ge</a:t>
            </a:r>
            <a:r>
              <a:rPr lang="en-US" altLang="zh-CN" baseline="30000" dirty="0"/>
              <a:t>2</a:t>
            </a:r>
            <a:r>
              <a:rPr lang="en-US" altLang="zh-CN" dirty="0"/>
              <a:t>, </a:t>
            </a:r>
            <a:r>
              <a:rPr lang="en-US" altLang="zh-CN" dirty="0" err="1"/>
              <a:t>Xiaoyu</a:t>
            </a:r>
            <a:r>
              <a:rPr lang="en-US" altLang="zh-CN" dirty="0"/>
              <a:t> Zhang¹, Wei Fan</a:t>
            </a:r>
            <a:r>
              <a:rPr lang="en-US" altLang="zh-CN" baseline="30000" dirty="0"/>
              <a:t>2</a:t>
            </a:r>
            <a:r>
              <a:rPr lang="en-US" altLang="zh-CN" dirty="0"/>
              <a:t> and </a:t>
            </a:r>
            <a:r>
              <a:rPr lang="en-US" altLang="zh-CN" dirty="0" err="1"/>
              <a:t>Yuexian</a:t>
            </a:r>
            <a:r>
              <a:rPr lang="en-US" altLang="zh-CN" dirty="0"/>
              <a:t> Zou</a:t>
            </a:r>
            <a:r>
              <a:rPr lang="en-US" altLang="zh-CN" baseline="30000" dirty="0"/>
              <a:t>1</a:t>
            </a:r>
          </a:p>
          <a:p>
            <a:pPr marL="0" indent="0" algn="ctr">
              <a:buNone/>
            </a:pPr>
            <a:r>
              <a:rPr lang="en-US" altLang="zh-CN" dirty="0"/>
              <a:t>¹ Peking University, China</a:t>
            </a:r>
          </a:p>
          <a:p>
            <a:pPr marL="0" indent="0" algn="ctr">
              <a:buNone/>
            </a:pPr>
            <a:r>
              <a:rPr lang="en-US" altLang="zh-CN" baseline="30000" dirty="0"/>
              <a:t>2</a:t>
            </a:r>
            <a:r>
              <a:rPr lang="en-US" altLang="zh-CN" dirty="0"/>
              <a:t> Tencent, China</a:t>
            </a:r>
            <a:endParaRPr lang="zh-CN" altLang="en-US" dirty="0"/>
          </a:p>
        </p:txBody>
      </p:sp>
    </p:spTree>
    <p:extLst>
      <p:ext uri="{BB962C8B-B14F-4D97-AF65-F5344CB8AC3E}">
        <p14:creationId xmlns:p14="http://schemas.microsoft.com/office/powerpoint/2010/main" val="9256548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Outline</a:t>
            </a:r>
            <a:endParaRPr lang="zh-CN" altLang="en-US" dirty="0"/>
          </a:p>
        </p:txBody>
      </p:sp>
      <p:sp>
        <p:nvSpPr>
          <p:cNvPr id="3" name="内容占位符 2"/>
          <p:cNvSpPr>
            <a:spLocks noGrp="1"/>
          </p:cNvSpPr>
          <p:nvPr>
            <p:ph idx="1"/>
          </p:nvPr>
        </p:nvSpPr>
        <p:spPr>
          <a:xfrm>
            <a:off x="533400" y="1453776"/>
            <a:ext cx="10820400" cy="5175624"/>
          </a:xfrm>
        </p:spPr>
        <p:txBody>
          <a:bodyPr>
            <a:normAutofit/>
          </a:bodyPr>
          <a:lstStyle/>
          <a:p>
            <a:r>
              <a:rPr lang="en-US" altLang="zh-CN" sz="4400" dirty="0"/>
              <a:t>1. Introduction</a:t>
            </a:r>
          </a:p>
          <a:p>
            <a:r>
              <a:rPr lang="en-US" altLang="zh-CN" sz="4400" dirty="0"/>
              <a:t>2. Approach</a:t>
            </a:r>
          </a:p>
          <a:p>
            <a:r>
              <a:rPr lang="en-US" altLang="zh-CN" sz="4400" dirty="0"/>
              <a:t>3. Experiments</a:t>
            </a:r>
          </a:p>
          <a:p>
            <a:r>
              <a:rPr lang="en-US" altLang="zh-CN" sz="4400" dirty="0"/>
              <a:t>4. Conclusion</a:t>
            </a:r>
            <a:endParaRPr lang="zh-CN" altLang="en-US" sz="4400" dirty="0"/>
          </a:p>
        </p:txBody>
      </p:sp>
      <p:sp>
        <p:nvSpPr>
          <p:cNvPr id="8" name="页脚占位符 7">
            <a:extLst>
              <a:ext uri="{FF2B5EF4-FFF2-40B4-BE49-F238E27FC236}">
                <a16:creationId xmlns:a16="http://schemas.microsoft.com/office/drawing/2014/main" id="{AE8C9982-446E-4AF8-833C-DF1F1DD2D33A}"/>
              </a:ext>
            </a:extLst>
          </p:cNvPr>
          <p:cNvSpPr>
            <a:spLocks noGrp="1"/>
          </p:cNvSpPr>
          <p:nvPr>
            <p:ph type="ftr" sz="quarter" idx="11"/>
          </p:nvPr>
        </p:nvSpPr>
        <p:spPr/>
        <p:txBody>
          <a:bodyPr/>
          <a:lstStyle/>
          <a:p>
            <a:endParaRPr lang="en-US" altLang="zh-CN" dirty="0"/>
          </a:p>
        </p:txBody>
      </p:sp>
      <p:sp>
        <p:nvSpPr>
          <p:cNvPr id="9" name="灯片编号占位符 8">
            <a:extLst>
              <a:ext uri="{FF2B5EF4-FFF2-40B4-BE49-F238E27FC236}">
                <a16:creationId xmlns:a16="http://schemas.microsoft.com/office/drawing/2014/main" id="{D19DAD48-5A5D-44F0-84DE-89E103386C73}"/>
              </a:ext>
            </a:extLst>
          </p:cNvPr>
          <p:cNvSpPr>
            <a:spLocks noGrp="1"/>
          </p:cNvSpPr>
          <p:nvPr>
            <p:ph type="sldNum" sz="quarter" idx="12"/>
          </p:nvPr>
        </p:nvSpPr>
        <p:spPr/>
        <p:txBody>
          <a:bodyPr/>
          <a:lstStyle/>
          <a:p>
            <a:fld id="{07703EE9-A018-4270-837F-8601F4153809}" type="slidenum">
              <a:rPr lang="en-US" altLang="zh-CN" smtClean="0"/>
              <a:pPr/>
              <a:t>2</a:t>
            </a:fld>
            <a:endParaRPr lang="en-US" altLang="zh-CN"/>
          </a:p>
        </p:txBody>
      </p:sp>
    </p:spTree>
    <p:extLst>
      <p:ext uri="{BB962C8B-B14F-4D97-AF65-F5344CB8AC3E}">
        <p14:creationId xmlns:p14="http://schemas.microsoft.com/office/powerpoint/2010/main" val="110923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ctrTitle"/>
          </p:nvPr>
        </p:nvSpPr>
        <p:spPr>
          <a:xfrm>
            <a:off x="0" y="2461794"/>
            <a:ext cx="12192000" cy="2387600"/>
          </a:xfrm>
        </p:spPr>
        <p:txBody>
          <a:bodyPr>
            <a:normAutofit/>
          </a:bodyPr>
          <a:lstStyle/>
          <a:p>
            <a:r>
              <a:rPr lang="en-US" altLang="zh-CN" dirty="0"/>
              <a:t>1. Introduction</a:t>
            </a:r>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3</a:t>
            </a:fld>
            <a:endParaRPr lang="zh-CN" altLang="en-US"/>
          </a:p>
        </p:txBody>
      </p:sp>
    </p:spTree>
    <p:extLst>
      <p:ext uri="{BB962C8B-B14F-4D97-AF65-F5344CB8AC3E}">
        <p14:creationId xmlns:p14="http://schemas.microsoft.com/office/powerpoint/2010/main" val="352981070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Introduction: Background</a:t>
            </a:r>
            <a:endParaRPr lang="zh-CN" altLang="en-US" dirty="0"/>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4</a:t>
            </a:fld>
            <a:endParaRPr lang="zh-CN" altLang="en-US"/>
          </a:p>
        </p:txBody>
      </p:sp>
      <p:sp>
        <p:nvSpPr>
          <p:cNvPr id="20" name="内容占位符 2"/>
          <p:cNvSpPr>
            <a:spLocks noGrp="1"/>
          </p:cNvSpPr>
          <p:nvPr>
            <p:ph idx="1"/>
          </p:nvPr>
        </p:nvSpPr>
        <p:spPr>
          <a:xfrm>
            <a:off x="218101" y="1388802"/>
            <a:ext cx="11973899" cy="4097598"/>
          </a:xfrm>
        </p:spPr>
        <p:txBody>
          <a:bodyPr>
            <a:normAutofit/>
          </a:bodyPr>
          <a:lstStyle/>
          <a:p>
            <a:r>
              <a:rPr lang="en-US" altLang="zh-CN" sz="2400" dirty="0"/>
              <a:t>Due to the great disparities between vision and language, an important goal of image captioning is to link the information in visual domain to textual domain.</a:t>
            </a:r>
          </a:p>
          <a:p>
            <a:r>
              <a:rPr lang="en-US" altLang="zh-CN" sz="2400" dirty="0"/>
              <a:t>In image captioning, where the image representations are used for text-oriented purposes, it is often desirable to translate the implicit low-level visual information to explicit high-level textual information [1]. It also suggests that the systems should 1) first link the image modality to the text modality, then 2) generate a semantically and grammatically correct descriptive sentence based on such textual guided visual information.</a:t>
            </a:r>
          </a:p>
        </p:txBody>
      </p:sp>
      <p:sp>
        <p:nvSpPr>
          <p:cNvPr id="42" name="文本框 65">
            <a:extLst>
              <a:ext uri="{FF2B5EF4-FFF2-40B4-BE49-F238E27FC236}">
                <a16:creationId xmlns:a16="http://schemas.microsoft.com/office/drawing/2014/main" id="{355FCB54-ACD6-4749-B208-1F82DBAEC992}"/>
              </a:ext>
            </a:extLst>
          </p:cNvPr>
          <p:cNvSpPr txBox="1"/>
          <p:nvPr/>
        </p:nvSpPr>
        <p:spPr>
          <a:xfrm>
            <a:off x="0" y="6467098"/>
            <a:ext cx="10877797" cy="307777"/>
          </a:xfrm>
          <a:prstGeom prst="rect">
            <a:avLst/>
          </a:prstGeom>
          <a:noFill/>
        </p:spPr>
        <p:txBody>
          <a:bodyPr wrap="square" rtlCol="0">
            <a:spAutoFit/>
          </a:bodyPr>
          <a:lstStyle/>
          <a:p>
            <a:r>
              <a:rPr lang="en-US" altLang="zh-CN" sz="1400" dirty="0"/>
              <a:t>[1] What Value Do Explicit High Level Concepts Have in Vision to Language Problems?</a:t>
            </a:r>
            <a:r>
              <a:rPr lang="en-US" altLang="zh-CN" sz="1400" dirty="0">
                <a:latin typeface="NimbusRomNo9L-Regu"/>
              </a:rPr>
              <a:t>. In CVPR 2016.</a:t>
            </a:r>
            <a:r>
              <a:rPr lang="en-US" altLang="zh-CN" sz="1400" dirty="0"/>
              <a:t> </a:t>
            </a:r>
            <a:endParaRPr lang="en-US" altLang="zh-C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Introduction: Motivations</a:t>
            </a:r>
            <a:endParaRPr lang="zh-CN" altLang="en-US" dirty="0"/>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5</a:t>
            </a:fld>
            <a:endParaRPr lang="zh-CN" altLang="en-US"/>
          </a:p>
        </p:txBody>
      </p:sp>
      <p:sp>
        <p:nvSpPr>
          <p:cNvPr id="42" name="文本框 65">
            <a:extLst>
              <a:ext uri="{FF2B5EF4-FFF2-40B4-BE49-F238E27FC236}">
                <a16:creationId xmlns:a16="http://schemas.microsoft.com/office/drawing/2014/main" id="{355FCB54-ACD6-4749-B208-1F82DBAEC992}"/>
              </a:ext>
            </a:extLst>
          </p:cNvPr>
          <p:cNvSpPr txBox="1"/>
          <p:nvPr/>
        </p:nvSpPr>
        <p:spPr>
          <a:xfrm>
            <a:off x="0" y="5944517"/>
            <a:ext cx="10877797" cy="954107"/>
          </a:xfrm>
          <a:prstGeom prst="rect">
            <a:avLst/>
          </a:prstGeom>
          <a:noFill/>
        </p:spPr>
        <p:txBody>
          <a:bodyPr wrap="square" rtlCol="0">
            <a:spAutoFit/>
          </a:bodyPr>
          <a:lstStyle/>
          <a:p>
            <a:r>
              <a:rPr lang="en-US" altLang="zh-CN" sz="1400" dirty="0"/>
              <a:t>[1] Bottom-Up and Top-Down Attention for Image Captioning and VQA</a:t>
            </a:r>
            <a:r>
              <a:rPr lang="en-US" altLang="zh-CN" sz="1400" dirty="0">
                <a:latin typeface="NimbusRomNo9L-Regu"/>
              </a:rPr>
              <a:t>. In CVPR 2018.</a:t>
            </a:r>
          </a:p>
          <a:p>
            <a:r>
              <a:rPr lang="en-US" altLang="zh-CN" sz="1400" dirty="0"/>
              <a:t>[2] Knowing When to Look: Adaptive Attention via a Visual Sentinel for Image Captioning. In CVPR 2017.</a:t>
            </a:r>
          </a:p>
          <a:p>
            <a:r>
              <a:rPr lang="en-US" altLang="zh-CN" sz="1400" dirty="0"/>
              <a:t>[3] Long Short-Term Memory.</a:t>
            </a:r>
            <a:r>
              <a:rPr lang="en-US" altLang="zh-CN" sz="1400" dirty="0">
                <a:latin typeface="NimbusRomNo9L-Regu"/>
              </a:rPr>
              <a:t> Neural Computation 1997.</a:t>
            </a:r>
          </a:p>
          <a:p>
            <a:r>
              <a:rPr lang="en-US" altLang="zh-CN" sz="1400" dirty="0"/>
              <a:t>[4] Attention is All you Need. In NIPS 2017.</a:t>
            </a:r>
          </a:p>
        </p:txBody>
      </p:sp>
      <p:sp>
        <p:nvSpPr>
          <p:cNvPr id="27" name="文本框 12">
            <a:extLst>
              <a:ext uri="{FF2B5EF4-FFF2-40B4-BE49-F238E27FC236}">
                <a16:creationId xmlns:a16="http://schemas.microsoft.com/office/drawing/2014/main" id="{6180860E-D5E4-44A7-A5DC-B9A7B2D683E0}"/>
              </a:ext>
            </a:extLst>
          </p:cNvPr>
          <p:cNvSpPr txBox="1"/>
          <p:nvPr/>
        </p:nvSpPr>
        <p:spPr>
          <a:xfrm>
            <a:off x="4362982" y="1762997"/>
            <a:ext cx="907639"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70C0"/>
                </a:solidFill>
                <a:effectLst/>
                <a:uLnTx/>
                <a:uFillTx/>
              </a:rPr>
              <a:t>Image</a:t>
            </a:r>
            <a:endParaRPr kumimoji="0" lang="zh-CN" altLang="en-US" sz="2000" b="0" i="0" u="none" strike="noStrike" kern="0" cap="none" spc="0" normalizeH="0" baseline="0" noProof="0" dirty="0">
              <a:ln>
                <a:noFill/>
              </a:ln>
              <a:solidFill>
                <a:srgbClr val="0070C0"/>
              </a:solidFill>
              <a:effectLst/>
              <a:uLnTx/>
              <a:uFillTx/>
            </a:endParaRPr>
          </a:p>
        </p:txBody>
      </p:sp>
      <p:sp>
        <p:nvSpPr>
          <p:cNvPr id="28" name="箭头: 右 13">
            <a:extLst>
              <a:ext uri="{FF2B5EF4-FFF2-40B4-BE49-F238E27FC236}">
                <a16:creationId xmlns:a16="http://schemas.microsoft.com/office/drawing/2014/main" id="{E6BE8E94-2232-44E4-8E54-AACBED59A13D}"/>
              </a:ext>
            </a:extLst>
          </p:cNvPr>
          <p:cNvSpPr/>
          <p:nvPr/>
        </p:nvSpPr>
        <p:spPr>
          <a:xfrm>
            <a:off x="5184992" y="1801460"/>
            <a:ext cx="694300" cy="328644"/>
          </a:xfrm>
          <a:prstGeom prst="rightArrow">
            <a:avLst/>
          </a:prstGeom>
          <a:solidFill>
            <a:srgbClr val="70AD47">
              <a:lumMod val="60000"/>
              <a:lumOff val="40000"/>
            </a:srgbClr>
          </a:solidFill>
          <a:ln w="12700" cap="flat" cmpd="sng" algn="ctr">
            <a:solidFill>
              <a:srgbClr val="70AD47">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9" name="文本框 14">
            <a:extLst>
              <a:ext uri="{FF2B5EF4-FFF2-40B4-BE49-F238E27FC236}">
                <a16:creationId xmlns:a16="http://schemas.microsoft.com/office/drawing/2014/main" id="{FAAB6DB9-ACCE-488D-BFAB-BC4EA522B114}"/>
              </a:ext>
            </a:extLst>
          </p:cNvPr>
          <p:cNvSpPr txBox="1"/>
          <p:nvPr/>
        </p:nvSpPr>
        <p:spPr>
          <a:xfrm>
            <a:off x="5936653" y="1778535"/>
            <a:ext cx="187169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2000" kern="0" dirty="0">
                <a:solidFill>
                  <a:srgbClr val="0070C0"/>
                </a:solidFill>
              </a:rPr>
              <a:t>Visual</a:t>
            </a:r>
            <a:r>
              <a:rPr kumimoji="0" lang="en-US" altLang="zh-CN" sz="2000" b="0" i="0" u="none" strike="noStrike" kern="0" cap="none" spc="0" normalizeH="0" baseline="0" noProof="0" dirty="0">
                <a:ln>
                  <a:noFill/>
                </a:ln>
                <a:solidFill>
                  <a:srgbClr val="0070C0"/>
                </a:solidFill>
                <a:effectLst/>
                <a:uLnTx/>
                <a:uFillTx/>
              </a:rPr>
              <a:t> Features</a:t>
            </a:r>
            <a:endParaRPr kumimoji="0" lang="zh-CN" altLang="en-US" sz="2000" b="0" i="0" u="none" strike="noStrike" kern="0" cap="none" spc="0" normalizeH="0" baseline="0" noProof="0" dirty="0">
              <a:ln>
                <a:noFill/>
              </a:ln>
              <a:solidFill>
                <a:srgbClr val="0070C0"/>
              </a:solidFill>
              <a:effectLst/>
              <a:uLnTx/>
              <a:uFillTx/>
            </a:endParaRPr>
          </a:p>
        </p:txBody>
      </p:sp>
      <p:sp>
        <p:nvSpPr>
          <p:cNvPr id="30" name="文本框 17">
            <a:extLst>
              <a:ext uri="{FF2B5EF4-FFF2-40B4-BE49-F238E27FC236}">
                <a16:creationId xmlns:a16="http://schemas.microsoft.com/office/drawing/2014/main" id="{4BB7BBA6-7F49-4B4B-B4D0-9F50394A133F}"/>
              </a:ext>
            </a:extLst>
          </p:cNvPr>
          <p:cNvSpPr txBox="1"/>
          <p:nvPr/>
        </p:nvSpPr>
        <p:spPr>
          <a:xfrm>
            <a:off x="5030428" y="1456055"/>
            <a:ext cx="1115488"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rPr>
              <a:t>encode</a:t>
            </a:r>
            <a:endParaRPr kumimoji="0" lang="zh-CN" altLang="en-US" sz="2000" b="0" i="0" u="none" strike="noStrike" kern="0" cap="none" spc="0" normalizeH="0" baseline="0" noProof="0" dirty="0">
              <a:ln>
                <a:noFill/>
              </a:ln>
              <a:solidFill>
                <a:prstClr val="black"/>
              </a:solidFill>
              <a:effectLst/>
              <a:uLnTx/>
              <a:uFillTx/>
            </a:endParaRPr>
          </a:p>
        </p:txBody>
      </p:sp>
      <p:sp>
        <p:nvSpPr>
          <p:cNvPr id="31" name="TextBox 40">
            <a:extLst>
              <a:ext uri="{FF2B5EF4-FFF2-40B4-BE49-F238E27FC236}">
                <a16:creationId xmlns:a16="http://schemas.microsoft.com/office/drawing/2014/main" id="{53DEFD27-1886-43BB-A82C-6B56E2796149}"/>
              </a:ext>
            </a:extLst>
          </p:cNvPr>
          <p:cNvSpPr txBox="1"/>
          <p:nvPr/>
        </p:nvSpPr>
        <p:spPr>
          <a:xfrm>
            <a:off x="1503609" y="1701442"/>
            <a:ext cx="2859373"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prstClr val="black"/>
                </a:solidFill>
                <a:effectLst/>
                <a:uLnTx/>
                <a:uFillTx/>
              </a:rPr>
              <a:t>Most Existing Works:</a:t>
            </a:r>
            <a:endParaRPr kumimoji="0" lang="zh-CN" altLang="en-US" sz="2400" b="1" i="0" u="none" strike="noStrike" kern="0" cap="none" spc="0" normalizeH="0" baseline="0" noProof="0" dirty="0">
              <a:ln>
                <a:noFill/>
              </a:ln>
              <a:solidFill>
                <a:prstClr val="black"/>
              </a:solidFill>
              <a:effectLst/>
              <a:uLnTx/>
              <a:uFillTx/>
            </a:endParaRPr>
          </a:p>
        </p:txBody>
      </p:sp>
      <p:sp>
        <p:nvSpPr>
          <p:cNvPr id="32" name="箭头: 右 15">
            <a:extLst>
              <a:ext uri="{FF2B5EF4-FFF2-40B4-BE49-F238E27FC236}">
                <a16:creationId xmlns:a16="http://schemas.microsoft.com/office/drawing/2014/main" id="{59CC0CEF-D210-4ED8-A501-1D41209EE2D4}"/>
              </a:ext>
            </a:extLst>
          </p:cNvPr>
          <p:cNvSpPr/>
          <p:nvPr/>
        </p:nvSpPr>
        <p:spPr>
          <a:xfrm>
            <a:off x="7719587" y="1800394"/>
            <a:ext cx="710642" cy="355796"/>
          </a:xfrm>
          <a:prstGeom prst="rightArrow">
            <a:avLst/>
          </a:prstGeom>
          <a:solidFill>
            <a:srgbClr val="70AD47">
              <a:lumMod val="60000"/>
              <a:lumOff val="40000"/>
            </a:srgbClr>
          </a:solidFill>
          <a:ln w="12700" cap="flat" cmpd="sng" algn="ctr">
            <a:solidFill>
              <a:srgbClr val="70AD47">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文本框 16">
            <a:extLst>
              <a:ext uri="{FF2B5EF4-FFF2-40B4-BE49-F238E27FC236}">
                <a16:creationId xmlns:a16="http://schemas.microsoft.com/office/drawing/2014/main" id="{58B357FE-9F84-48C1-BE29-3A89F145E8E5}"/>
              </a:ext>
            </a:extLst>
          </p:cNvPr>
          <p:cNvSpPr txBox="1"/>
          <p:nvPr/>
        </p:nvSpPr>
        <p:spPr>
          <a:xfrm>
            <a:off x="8433064" y="1796207"/>
            <a:ext cx="1584256"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70C0"/>
                </a:solidFill>
                <a:effectLst/>
                <a:uLnTx/>
                <a:uFillTx/>
              </a:rPr>
              <a:t>Caption</a:t>
            </a:r>
            <a:endParaRPr kumimoji="0" lang="zh-CN" altLang="en-US" sz="2000" b="0" i="0" u="none" strike="noStrike" kern="0" cap="none" spc="0" normalizeH="0" baseline="0" noProof="0" dirty="0">
              <a:ln>
                <a:noFill/>
              </a:ln>
              <a:solidFill>
                <a:srgbClr val="0070C0"/>
              </a:solidFill>
              <a:effectLst/>
              <a:uLnTx/>
              <a:uFillTx/>
            </a:endParaRPr>
          </a:p>
        </p:txBody>
      </p:sp>
      <p:sp>
        <p:nvSpPr>
          <p:cNvPr id="34" name="文本框 18">
            <a:extLst>
              <a:ext uri="{FF2B5EF4-FFF2-40B4-BE49-F238E27FC236}">
                <a16:creationId xmlns:a16="http://schemas.microsoft.com/office/drawing/2014/main" id="{7F6E91C8-86F1-46B5-9878-E92633C9DCBA}"/>
              </a:ext>
            </a:extLst>
          </p:cNvPr>
          <p:cNvSpPr txBox="1"/>
          <p:nvPr/>
        </p:nvSpPr>
        <p:spPr>
          <a:xfrm>
            <a:off x="7602196" y="1456055"/>
            <a:ext cx="134858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rPr>
              <a:t>decode</a:t>
            </a:r>
            <a:endParaRPr kumimoji="0" lang="zh-CN" altLang="en-US" sz="2000" b="0" i="0" u="none" strike="noStrike" kern="0" cap="none" spc="0" normalizeH="0" baseline="0" noProof="0" dirty="0">
              <a:ln>
                <a:noFill/>
              </a:ln>
              <a:solidFill>
                <a:prstClr val="black"/>
              </a:solidFill>
              <a:effectLst/>
              <a:uLnTx/>
              <a:uFillTx/>
            </a:endParaRPr>
          </a:p>
        </p:txBody>
      </p:sp>
      <p:sp>
        <p:nvSpPr>
          <p:cNvPr id="37" name="内容占位符 2">
            <a:extLst>
              <a:ext uri="{FF2B5EF4-FFF2-40B4-BE49-F238E27FC236}">
                <a16:creationId xmlns:a16="http://schemas.microsoft.com/office/drawing/2014/main" id="{2F64186F-FDA9-4AFE-90AE-7B5A236E0B14}"/>
              </a:ext>
            </a:extLst>
          </p:cNvPr>
          <p:cNvSpPr>
            <a:spLocks noGrp="1"/>
          </p:cNvSpPr>
          <p:nvPr>
            <p:ph idx="1"/>
          </p:nvPr>
        </p:nvSpPr>
        <p:spPr>
          <a:xfrm>
            <a:off x="218101" y="2400344"/>
            <a:ext cx="11973899" cy="3956005"/>
          </a:xfrm>
        </p:spPr>
        <p:txBody>
          <a:bodyPr>
            <a:normAutofit fontScale="92500"/>
          </a:bodyPr>
          <a:lstStyle/>
          <a:p>
            <a:pPr algn="l"/>
            <a:r>
              <a:rPr lang="en-US" altLang="zh-CN" sz="2400" dirty="0">
                <a:latin typeface="LinLibertineT"/>
              </a:rPr>
              <a:t>E</a:t>
            </a:r>
            <a:r>
              <a:rPr lang="en-US" altLang="zh-CN" sz="2400" b="0" i="0" u="none" strike="noStrike" baseline="0" dirty="0">
                <a:latin typeface="LinLibertineT"/>
              </a:rPr>
              <a:t>xisting systems [1, 2] </a:t>
            </a:r>
            <a:r>
              <a:rPr lang="en-US" altLang="zh-CN" sz="2400" b="0" i="1" u="none" strike="noStrike" baseline="0" dirty="0">
                <a:latin typeface="LinLibertineT"/>
              </a:rPr>
              <a:t>entangle</a:t>
            </a:r>
            <a:r>
              <a:rPr lang="en-US" altLang="zh-CN" sz="2400" b="0" i="0" u="none" strike="noStrike" baseline="0" dirty="0">
                <a:latin typeface="LinLibertineT"/>
              </a:rPr>
              <a:t> these two steps in one single model, i.e., the </a:t>
            </a:r>
            <a:r>
              <a:rPr lang="en-US" altLang="zh-CN" sz="2400" b="0" i="0" u="none" strike="noStrike" baseline="0" dirty="0">
                <a:solidFill>
                  <a:srgbClr val="FF0000"/>
                </a:solidFill>
                <a:latin typeface="LinLibertineTI"/>
              </a:rPr>
              <a:t>decoder</a:t>
            </a:r>
            <a:r>
              <a:rPr lang="en-US" altLang="zh-CN" sz="2400" b="0" i="0" u="none" strike="noStrike" baseline="0" dirty="0">
                <a:latin typeface="LinLibertineT"/>
              </a:rPr>
              <a:t>. And due to the large disparities between vision and language domains, the </a:t>
            </a:r>
            <a:r>
              <a:rPr lang="en-US" altLang="zh-CN" sz="2400" b="0" i="0" u="none" strike="noStrike" baseline="0" dirty="0">
                <a:latin typeface="LinLibertineTI"/>
              </a:rPr>
              <a:t>decoders </a:t>
            </a:r>
            <a:r>
              <a:rPr lang="en-US" altLang="zh-CN" sz="2400" b="0" i="0" u="none" strike="noStrike" baseline="0" dirty="0">
                <a:latin typeface="LinLibertineT"/>
              </a:rPr>
              <a:t>in such models have to devote most of their capabilities on conducting the step </a:t>
            </a:r>
            <a:r>
              <a:rPr lang="en-US" altLang="zh-CN" sz="2400" b="0" i="0" u="none" strike="noStrike" baseline="0" dirty="0">
                <a:latin typeface="LinLibertineTB"/>
              </a:rPr>
              <a:t>1)</a:t>
            </a:r>
            <a:r>
              <a:rPr lang="en-US" altLang="zh-CN" sz="2400" b="0" i="0" u="none" strike="noStrike" baseline="0" dirty="0">
                <a:latin typeface="LinLibertineT"/>
              </a:rPr>
              <a:t>, and thus be distracted from finishing step </a:t>
            </a:r>
            <a:r>
              <a:rPr lang="en-US" altLang="zh-CN" sz="2400" b="0" i="0" u="none" strike="noStrike" baseline="0" dirty="0">
                <a:latin typeface="LinLibertineTB"/>
              </a:rPr>
              <a:t>2) </a:t>
            </a:r>
            <a:r>
              <a:rPr lang="en-US" altLang="zh-CN" sz="2400" b="0" i="0" u="none" strike="noStrike" baseline="0" dirty="0">
                <a:latin typeface="LinLibertineT"/>
              </a:rPr>
              <a:t>with high quality. </a:t>
            </a:r>
            <a:r>
              <a:rPr lang="en-US" altLang="zh-CN" sz="2400" b="0" i="1" u="none" strike="noStrike" baseline="0" dirty="0">
                <a:latin typeface="LinLibertineT"/>
              </a:rPr>
              <a:t>Especially, the </a:t>
            </a:r>
            <a:r>
              <a:rPr lang="en-US" altLang="zh-CN" sz="2400" b="0" i="1" u="none" strike="noStrike" baseline="0" dirty="0">
                <a:latin typeface="LinLibertineTI"/>
              </a:rPr>
              <a:t>decoders</a:t>
            </a:r>
            <a:r>
              <a:rPr lang="en-US" altLang="zh-CN" sz="2400" b="0" i="1" u="none" strike="noStrike" baseline="0" dirty="0">
                <a:latin typeface="LinLibertineT"/>
              </a:rPr>
              <a:t>, e.g., LSTMs [3] and Transformers [4], are effective at propagating information across the decoding process and generating a semantically and grammatically correct descriptive sentence, and is not good at conducting step </a:t>
            </a:r>
            <a:r>
              <a:rPr lang="en-US" altLang="zh-CN" sz="2400" b="0" i="1" u="none" strike="noStrike" baseline="0" dirty="0">
                <a:latin typeface="LinLibertineTB"/>
              </a:rPr>
              <a:t>1)</a:t>
            </a:r>
            <a:r>
              <a:rPr lang="en-US" altLang="zh-CN" sz="2400" b="0" i="1" u="none" strike="noStrike" baseline="0" dirty="0">
                <a:latin typeface="LinLibertineT"/>
              </a:rPr>
              <a:t>. </a:t>
            </a:r>
          </a:p>
          <a:p>
            <a:pPr algn="l"/>
            <a:r>
              <a:rPr lang="en-US" altLang="zh-CN" sz="2400" b="0" i="0" u="none" strike="noStrike" baseline="0" dirty="0">
                <a:latin typeface="LinLibertineT"/>
              </a:rPr>
              <a:t>As a result, ignoring the possibility to construct two separate models to disentangle the two steps makes it hard for these systems to understand the images and generate captions efficiently. In this work, we argue that exploring another separate model to perform the step 1) is helpful to bridge the gap between vision and language domains and improve the performance.</a:t>
            </a:r>
            <a:endParaRPr lang="zh-CN" altLang="en-US" sz="1600" dirty="0"/>
          </a:p>
        </p:txBody>
      </p:sp>
    </p:spTree>
    <p:extLst>
      <p:ext uri="{BB962C8B-B14F-4D97-AF65-F5344CB8AC3E}">
        <p14:creationId xmlns:p14="http://schemas.microsoft.com/office/powerpoint/2010/main" val="436592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Introduction: Approach</a:t>
            </a:r>
            <a:endParaRPr lang="zh-CN" altLang="en-US" dirty="0"/>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6</a:t>
            </a:fld>
            <a:endParaRPr lang="zh-CN" altLang="en-US"/>
          </a:p>
        </p:txBody>
      </p:sp>
      <p:sp>
        <p:nvSpPr>
          <p:cNvPr id="37" name="内容占位符 2">
            <a:extLst>
              <a:ext uri="{FF2B5EF4-FFF2-40B4-BE49-F238E27FC236}">
                <a16:creationId xmlns:a16="http://schemas.microsoft.com/office/drawing/2014/main" id="{2F64186F-FDA9-4AFE-90AE-7B5A236E0B14}"/>
              </a:ext>
            </a:extLst>
          </p:cNvPr>
          <p:cNvSpPr>
            <a:spLocks noGrp="1"/>
          </p:cNvSpPr>
          <p:nvPr>
            <p:ph idx="1"/>
          </p:nvPr>
        </p:nvSpPr>
        <p:spPr>
          <a:xfrm>
            <a:off x="218101" y="1721303"/>
            <a:ext cx="11973899" cy="1329475"/>
          </a:xfrm>
        </p:spPr>
        <p:txBody>
          <a:bodyPr>
            <a:normAutofit/>
          </a:bodyPr>
          <a:lstStyle/>
          <a:p>
            <a:pPr algn="l"/>
            <a:r>
              <a:rPr lang="en-US" altLang="zh-CN" sz="2400" dirty="0">
                <a:latin typeface="LinLibertineT"/>
              </a:rPr>
              <a:t>To achieve that, we propose to conduct the step 1) in the </a:t>
            </a:r>
            <a:r>
              <a:rPr lang="en-US" altLang="zh-CN" sz="2400" dirty="0">
                <a:solidFill>
                  <a:srgbClr val="FF0000"/>
                </a:solidFill>
                <a:latin typeface="LinLibertineT"/>
              </a:rPr>
              <a:t>encoder</a:t>
            </a:r>
            <a:r>
              <a:rPr lang="en-US" altLang="zh-CN" sz="2400" dirty="0">
                <a:latin typeface="LinLibertineT"/>
              </a:rPr>
              <a:t> by enriching image features with textual concepts. Specifically, we provide complete semantics information for the image features, i.e., textual-enriched  image features.</a:t>
            </a:r>
          </a:p>
        </p:txBody>
      </p:sp>
      <p:sp>
        <p:nvSpPr>
          <p:cNvPr id="8" name="TextBox 40">
            <a:extLst>
              <a:ext uri="{FF2B5EF4-FFF2-40B4-BE49-F238E27FC236}">
                <a16:creationId xmlns:a16="http://schemas.microsoft.com/office/drawing/2014/main" id="{234AF2C3-A6EC-4EBD-BC77-B0B682742515}"/>
              </a:ext>
            </a:extLst>
          </p:cNvPr>
          <p:cNvSpPr txBox="1"/>
          <p:nvPr/>
        </p:nvSpPr>
        <p:spPr>
          <a:xfrm>
            <a:off x="856298" y="3889904"/>
            <a:ext cx="2056973"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prstClr val="black"/>
                </a:solidFill>
                <a:effectLst/>
                <a:uLnTx/>
                <a:uFillTx/>
              </a:rPr>
              <a:t>Our Approach:</a:t>
            </a:r>
            <a:endParaRPr kumimoji="0" lang="zh-CN" altLang="en-US" sz="2400" b="1" i="0" u="none" strike="noStrike" kern="0" cap="none" spc="0" normalizeH="0" baseline="0" noProof="0" dirty="0">
              <a:ln>
                <a:noFill/>
              </a:ln>
              <a:solidFill>
                <a:prstClr val="black"/>
              </a:solidFill>
              <a:effectLst/>
              <a:uLnTx/>
              <a:uFillTx/>
            </a:endParaRPr>
          </a:p>
        </p:txBody>
      </p:sp>
      <p:sp>
        <p:nvSpPr>
          <p:cNvPr id="107" name="文本框 12">
            <a:extLst>
              <a:ext uri="{FF2B5EF4-FFF2-40B4-BE49-F238E27FC236}">
                <a16:creationId xmlns:a16="http://schemas.microsoft.com/office/drawing/2014/main" id="{21837977-894C-4859-8DD2-7EF8389714BB}"/>
              </a:ext>
            </a:extLst>
          </p:cNvPr>
          <p:cNvSpPr txBox="1"/>
          <p:nvPr/>
        </p:nvSpPr>
        <p:spPr>
          <a:xfrm>
            <a:off x="2826911" y="3920682"/>
            <a:ext cx="2042160"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70C0"/>
                </a:solidFill>
                <a:effectLst/>
                <a:uLnTx/>
                <a:uFillTx/>
              </a:rPr>
              <a:t>Image</a:t>
            </a:r>
            <a:endParaRPr kumimoji="0" lang="zh-CN" altLang="en-US" sz="2000" b="0" i="0" u="none" strike="noStrike" kern="0" cap="none" spc="0" normalizeH="0" baseline="0" noProof="0" dirty="0">
              <a:ln>
                <a:noFill/>
              </a:ln>
              <a:solidFill>
                <a:srgbClr val="0070C0"/>
              </a:solidFill>
              <a:effectLst/>
              <a:uLnTx/>
              <a:uFillTx/>
            </a:endParaRPr>
          </a:p>
        </p:txBody>
      </p:sp>
      <p:sp>
        <p:nvSpPr>
          <p:cNvPr id="108" name="文本框 14">
            <a:extLst>
              <a:ext uri="{FF2B5EF4-FFF2-40B4-BE49-F238E27FC236}">
                <a16:creationId xmlns:a16="http://schemas.microsoft.com/office/drawing/2014/main" id="{8160660A-6314-4BC3-A3BD-FC816257F512}"/>
              </a:ext>
            </a:extLst>
          </p:cNvPr>
          <p:cNvSpPr txBox="1"/>
          <p:nvPr/>
        </p:nvSpPr>
        <p:spPr>
          <a:xfrm>
            <a:off x="4470567" y="3509007"/>
            <a:ext cx="1919688" cy="4001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70C0"/>
                </a:solidFill>
                <a:effectLst/>
                <a:uLnTx/>
                <a:uFillTx/>
              </a:rPr>
              <a:t>Visual Features</a:t>
            </a:r>
          </a:p>
        </p:txBody>
      </p:sp>
      <p:sp>
        <p:nvSpPr>
          <p:cNvPr id="110" name="文本框 14">
            <a:extLst>
              <a:ext uri="{FF2B5EF4-FFF2-40B4-BE49-F238E27FC236}">
                <a16:creationId xmlns:a16="http://schemas.microsoft.com/office/drawing/2014/main" id="{622E9DF6-FE48-4C16-B0DB-40C81D35F4B9}"/>
              </a:ext>
            </a:extLst>
          </p:cNvPr>
          <p:cNvSpPr txBox="1"/>
          <p:nvPr/>
        </p:nvSpPr>
        <p:spPr>
          <a:xfrm>
            <a:off x="4468303" y="4343082"/>
            <a:ext cx="2023915" cy="4001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70C0"/>
                </a:solidFill>
                <a:effectLst/>
                <a:uLnTx/>
                <a:uFillTx/>
              </a:rPr>
              <a:t>Textual Concepts</a:t>
            </a:r>
            <a:endParaRPr kumimoji="0" lang="zh-CN" altLang="en-US" sz="2000" b="0" i="0" u="none" strike="noStrike" kern="0" cap="none" spc="0" normalizeH="0" baseline="0" noProof="0" dirty="0">
              <a:ln>
                <a:noFill/>
              </a:ln>
              <a:solidFill>
                <a:srgbClr val="0070C0"/>
              </a:solidFill>
              <a:effectLst/>
              <a:uLnTx/>
              <a:uFillTx/>
            </a:endParaRPr>
          </a:p>
        </p:txBody>
      </p:sp>
      <p:sp>
        <p:nvSpPr>
          <p:cNvPr id="111" name="箭头: 右 13">
            <a:extLst>
              <a:ext uri="{FF2B5EF4-FFF2-40B4-BE49-F238E27FC236}">
                <a16:creationId xmlns:a16="http://schemas.microsoft.com/office/drawing/2014/main" id="{3F152FCA-FAFA-4873-9565-E33A7E94FC5A}"/>
              </a:ext>
            </a:extLst>
          </p:cNvPr>
          <p:cNvSpPr/>
          <p:nvPr/>
        </p:nvSpPr>
        <p:spPr>
          <a:xfrm rot="1875083">
            <a:off x="3835378" y="4218541"/>
            <a:ext cx="570199" cy="457916"/>
          </a:xfrm>
          <a:prstGeom prst="rightArrow">
            <a:avLst/>
          </a:prstGeom>
          <a:solidFill>
            <a:srgbClr val="70AD47">
              <a:lumMod val="60000"/>
              <a:lumOff val="40000"/>
            </a:srgbClr>
          </a:solidFill>
          <a:ln w="12700" cap="flat" cmpd="sng" algn="ctr">
            <a:solidFill>
              <a:srgbClr val="70AD47">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2" name="箭头: 右 13">
            <a:extLst>
              <a:ext uri="{FF2B5EF4-FFF2-40B4-BE49-F238E27FC236}">
                <a16:creationId xmlns:a16="http://schemas.microsoft.com/office/drawing/2014/main" id="{B024393F-B59D-4166-8A02-60E328E24345}"/>
              </a:ext>
            </a:extLst>
          </p:cNvPr>
          <p:cNvSpPr/>
          <p:nvPr/>
        </p:nvSpPr>
        <p:spPr>
          <a:xfrm rot="19563385">
            <a:off x="3868362" y="3628055"/>
            <a:ext cx="571059" cy="433871"/>
          </a:xfrm>
          <a:prstGeom prst="rightArrow">
            <a:avLst/>
          </a:prstGeom>
          <a:solidFill>
            <a:srgbClr val="70AD47">
              <a:lumMod val="60000"/>
              <a:lumOff val="40000"/>
            </a:srgbClr>
          </a:solidFill>
          <a:ln w="12700" cap="flat" cmpd="sng" algn="ctr">
            <a:solidFill>
              <a:srgbClr val="70AD47">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3" name="文本框 18">
            <a:extLst>
              <a:ext uri="{FF2B5EF4-FFF2-40B4-BE49-F238E27FC236}">
                <a16:creationId xmlns:a16="http://schemas.microsoft.com/office/drawing/2014/main" id="{37892140-B56A-44B4-9326-1E6F4CC2D888}"/>
              </a:ext>
            </a:extLst>
          </p:cNvPr>
          <p:cNvSpPr txBox="1"/>
          <p:nvPr/>
        </p:nvSpPr>
        <p:spPr>
          <a:xfrm>
            <a:off x="3615234" y="3923729"/>
            <a:ext cx="1070957"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rPr>
              <a:t>encode</a:t>
            </a:r>
            <a:endParaRPr kumimoji="0" lang="zh-CN" altLang="en-US" sz="2000" b="0" i="0" u="none" strike="noStrike" kern="0" cap="none" spc="0" normalizeH="0" baseline="0" noProof="0" dirty="0">
              <a:ln>
                <a:noFill/>
              </a:ln>
              <a:solidFill>
                <a:prstClr val="black"/>
              </a:solidFill>
              <a:effectLst/>
              <a:uLnTx/>
              <a:uFillTx/>
            </a:endParaRPr>
          </a:p>
        </p:txBody>
      </p:sp>
      <p:sp>
        <p:nvSpPr>
          <p:cNvPr id="118" name="圆角矩形 32">
            <a:extLst>
              <a:ext uri="{FF2B5EF4-FFF2-40B4-BE49-F238E27FC236}">
                <a16:creationId xmlns:a16="http://schemas.microsoft.com/office/drawing/2014/main" id="{278CD08A-87A0-4D09-86C7-85E03586F2AD}"/>
              </a:ext>
            </a:extLst>
          </p:cNvPr>
          <p:cNvSpPr/>
          <p:nvPr/>
        </p:nvSpPr>
        <p:spPr>
          <a:xfrm>
            <a:off x="3680351" y="3500511"/>
            <a:ext cx="777240" cy="1244600"/>
          </a:xfrm>
          <a:prstGeom prst="roundRect">
            <a:avLst/>
          </a:prstGeom>
          <a:noFill/>
          <a:ln w="254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7" name="箭头: 右 13">
            <a:extLst>
              <a:ext uri="{FF2B5EF4-FFF2-40B4-BE49-F238E27FC236}">
                <a16:creationId xmlns:a16="http://schemas.microsoft.com/office/drawing/2014/main" id="{47F4D1C6-5522-4CDF-813A-A6622DE0DCFB}"/>
              </a:ext>
            </a:extLst>
          </p:cNvPr>
          <p:cNvSpPr/>
          <p:nvPr/>
        </p:nvSpPr>
        <p:spPr>
          <a:xfrm rot="1418436">
            <a:off x="6745560" y="3524110"/>
            <a:ext cx="570199" cy="457916"/>
          </a:xfrm>
          <a:prstGeom prst="rightArrow">
            <a:avLst/>
          </a:prstGeom>
          <a:solidFill>
            <a:srgbClr val="70AD47">
              <a:lumMod val="60000"/>
              <a:lumOff val="40000"/>
            </a:srgbClr>
          </a:solidFill>
          <a:ln w="12700" cap="flat" cmpd="sng" algn="ctr">
            <a:solidFill>
              <a:srgbClr val="70AD47">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9" name="箭头: 右 13">
            <a:extLst>
              <a:ext uri="{FF2B5EF4-FFF2-40B4-BE49-F238E27FC236}">
                <a16:creationId xmlns:a16="http://schemas.microsoft.com/office/drawing/2014/main" id="{5132EE83-E0D5-4701-B85C-BA43CAD634A1}"/>
              </a:ext>
            </a:extLst>
          </p:cNvPr>
          <p:cNvSpPr/>
          <p:nvPr/>
        </p:nvSpPr>
        <p:spPr>
          <a:xfrm rot="20628883">
            <a:off x="6726827" y="4271122"/>
            <a:ext cx="571059" cy="433871"/>
          </a:xfrm>
          <a:prstGeom prst="rightArrow">
            <a:avLst/>
          </a:prstGeom>
          <a:solidFill>
            <a:srgbClr val="70AD47">
              <a:lumMod val="60000"/>
              <a:lumOff val="40000"/>
            </a:srgbClr>
          </a:solidFill>
          <a:ln w="12700" cap="flat" cmpd="sng" algn="ctr">
            <a:solidFill>
              <a:srgbClr val="70AD47">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1" name="圆角矩形 33">
            <a:extLst>
              <a:ext uri="{FF2B5EF4-FFF2-40B4-BE49-F238E27FC236}">
                <a16:creationId xmlns:a16="http://schemas.microsoft.com/office/drawing/2014/main" id="{E5D1C0D9-7928-478E-AFCE-D45B5F77AE0E}"/>
              </a:ext>
            </a:extLst>
          </p:cNvPr>
          <p:cNvSpPr/>
          <p:nvPr/>
        </p:nvSpPr>
        <p:spPr>
          <a:xfrm>
            <a:off x="6444007" y="3480192"/>
            <a:ext cx="1067962" cy="1244600"/>
          </a:xfrm>
          <a:prstGeom prst="roundRect">
            <a:avLst/>
          </a:prstGeom>
          <a:noFill/>
          <a:ln w="254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3" name="文本框 132">
            <a:extLst>
              <a:ext uri="{FF2B5EF4-FFF2-40B4-BE49-F238E27FC236}">
                <a16:creationId xmlns:a16="http://schemas.microsoft.com/office/drawing/2014/main" id="{39AA0BD4-7724-4409-BBBA-10793A842901}"/>
              </a:ext>
            </a:extLst>
          </p:cNvPr>
          <p:cNvSpPr txBox="1"/>
          <p:nvPr/>
        </p:nvSpPr>
        <p:spPr>
          <a:xfrm>
            <a:off x="6440068" y="3893380"/>
            <a:ext cx="134858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2000" kern="0" dirty="0">
                <a:solidFill>
                  <a:prstClr val="black"/>
                </a:solidFill>
              </a:rPr>
              <a:t>p</a:t>
            </a:r>
            <a:r>
              <a:rPr kumimoji="0" lang="en-US" altLang="zh-CN" sz="2000" b="0" i="0" u="none" strike="noStrike" kern="0" cap="none" spc="0" normalizeH="0" baseline="0" noProof="0" dirty="0" err="1">
                <a:ln>
                  <a:noFill/>
                </a:ln>
                <a:solidFill>
                  <a:prstClr val="black"/>
                </a:solidFill>
                <a:effectLst/>
                <a:uLnTx/>
                <a:uFillTx/>
              </a:rPr>
              <a:t>roposal</a:t>
            </a:r>
            <a:endParaRPr kumimoji="0" lang="zh-CN" altLang="en-US" sz="2000" b="0" i="0" u="none" strike="noStrike" kern="0" cap="none" spc="0" normalizeH="0" baseline="0" noProof="0" dirty="0">
              <a:ln>
                <a:noFill/>
              </a:ln>
              <a:solidFill>
                <a:prstClr val="black"/>
              </a:solidFill>
              <a:effectLst/>
              <a:uLnTx/>
              <a:uFillTx/>
            </a:endParaRPr>
          </a:p>
        </p:txBody>
      </p:sp>
      <p:sp>
        <p:nvSpPr>
          <p:cNvPr id="135" name="文本框 14">
            <a:extLst>
              <a:ext uri="{FF2B5EF4-FFF2-40B4-BE49-F238E27FC236}">
                <a16:creationId xmlns:a16="http://schemas.microsoft.com/office/drawing/2014/main" id="{2EEB0B00-8AED-4532-A9ED-E712390D446B}"/>
              </a:ext>
            </a:extLst>
          </p:cNvPr>
          <p:cNvSpPr txBox="1"/>
          <p:nvPr/>
        </p:nvSpPr>
        <p:spPr>
          <a:xfrm>
            <a:off x="7559045" y="3749912"/>
            <a:ext cx="2083672" cy="70788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FF0000"/>
                </a:solidFill>
                <a:effectLst/>
                <a:uLnTx/>
                <a:uFillTx/>
              </a:rPr>
              <a:t>textual-enriched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FF0000"/>
                </a:solidFill>
                <a:effectLst/>
                <a:uLnTx/>
                <a:uFillTx/>
              </a:rPr>
              <a:t>image features</a:t>
            </a:r>
            <a:endParaRPr kumimoji="0" lang="zh-CN" altLang="en-US" sz="2000" b="0" i="0" u="none" strike="noStrike" kern="0" cap="none" spc="0" normalizeH="0" baseline="0" noProof="0" dirty="0">
              <a:ln>
                <a:noFill/>
              </a:ln>
              <a:solidFill>
                <a:srgbClr val="FF0000"/>
              </a:solidFill>
              <a:effectLst/>
              <a:uLnTx/>
              <a:uFillTx/>
            </a:endParaRPr>
          </a:p>
        </p:txBody>
      </p:sp>
      <p:sp>
        <p:nvSpPr>
          <p:cNvPr id="137" name="箭头: 右 15">
            <a:extLst>
              <a:ext uri="{FF2B5EF4-FFF2-40B4-BE49-F238E27FC236}">
                <a16:creationId xmlns:a16="http://schemas.microsoft.com/office/drawing/2014/main" id="{365AF9B4-653D-47F0-9AD5-544D0F88214E}"/>
              </a:ext>
            </a:extLst>
          </p:cNvPr>
          <p:cNvSpPr/>
          <p:nvPr/>
        </p:nvSpPr>
        <p:spPr>
          <a:xfrm>
            <a:off x="9535238" y="4015018"/>
            <a:ext cx="710642" cy="355796"/>
          </a:xfrm>
          <a:prstGeom prst="rightArrow">
            <a:avLst/>
          </a:prstGeom>
          <a:solidFill>
            <a:srgbClr val="70AD47">
              <a:lumMod val="60000"/>
              <a:lumOff val="40000"/>
            </a:srgbClr>
          </a:solidFill>
          <a:ln w="12700" cap="flat" cmpd="sng" algn="ctr">
            <a:solidFill>
              <a:srgbClr val="70AD47">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9" name="文本框 16">
            <a:extLst>
              <a:ext uri="{FF2B5EF4-FFF2-40B4-BE49-F238E27FC236}">
                <a16:creationId xmlns:a16="http://schemas.microsoft.com/office/drawing/2014/main" id="{EB38A8E8-9519-43C9-B0F1-B6D2A3921DE9}"/>
              </a:ext>
            </a:extLst>
          </p:cNvPr>
          <p:cNvSpPr txBox="1"/>
          <p:nvPr/>
        </p:nvSpPr>
        <p:spPr>
          <a:xfrm>
            <a:off x="10248715" y="4002306"/>
            <a:ext cx="1584256"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70C0"/>
                </a:solidFill>
                <a:effectLst/>
                <a:uLnTx/>
                <a:uFillTx/>
              </a:rPr>
              <a:t>Caption</a:t>
            </a:r>
            <a:endParaRPr kumimoji="0" lang="zh-CN" altLang="en-US" sz="2000" b="0" i="0" u="none" strike="noStrike" kern="0" cap="none" spc="0" normalizeH="0" baseline="0" noProof="0" dirty="0">
              <a:ln>
                <a:noFill/>
              </a:ln>
              <a:solidFill>
                <a:srgbClr val="0070C0"/>
              </a:solidFill>
              <a:effectLst/>
              <a:uLnTx/>
              <a:uFillTx/>
            </a:endParaRPr>
          </a:p>
        </p:txBody>
      </p:sp>
      <p:sp>
        <p:nvSpPr>
          <p:cNvPr id="141" name="文本框 18">
            <a:extLst>
              <a:ext uri="{FF2B5EF4-FFF2-40B4-BE49-F238E27FC236}">
                <a16:creationId xmlns:a16="http://schemas.microsoft.com/office/drawing/2014/main" id="{DC8E4807-6923-4C9A-9EDB-4420741D84F4}"/>
              </a:ext>
            </a:extLst>
          </p:cNvPr>
          <p:cNvSpPr txBox="1"/>
          <p:nvPr/>
        </p:nvSpPr>
        <p:spPr>
          <a:xfrm>
            <a:off x="9417847" y="3670679"/>
            <a:ext cx="134858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rPr>
              <a:t>decode</a:t>
            </a:r>
            <a:endParaRPr kumimoji="0" lang="zh-CN" altLang="en-US" sz="20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3028105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ctrTitle"/>
          </p:nvPr>
        </p:nvSpPr>
        <p:spPr>
          <a:xfrm>
            <a:off x="0" y="2461794"/>
            <a:ext cx="12192000" cy="2387600"/>
          </a:xfrm>
        </p:spPr>
        <p:txBody>
          <a:bodyPr>
            <a:normAutofit/>
          </a:bodyPr>
          <a:lstStyle/>
          <a:p>
            <a:r>
              <a:rPr lang="en-US" altLang="zh-CN" dirty="0"/>
              <a:t>2. Approach</a:t>
            </a:r>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7</a:t>
            </a:fld>
            <a:endParaRPr lang="zh-CN" altLang="en-US"/>
          </a:p>
        </p:txBody>
      </p:sp>
    </p:spTree>
    <p:extLst>
      <p:ext uri="{BB962C8B-B14F-4D97-AF65-F5344CB8AC3E}">
        <p14:creationId xmlns:p14="http://schemas.microsoft.com/office/powerpoint/2010/main" val="53892234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BF37778-E2B0-4D25-81C0-229763CF8BD6}"/>
              </a:ext>
            </a:extLst>
          </p:cNvPr>
          <p:cNvPicPr>
            <a:picLocks noChangeAspect="1"/>
          </p:cNvPicPr>
          <p:nvPr/>
        </p:nvPicPr>
        <p:blipFill>
          <a:blip r:embed="rId3"/>
          <a:stretch>
            <a:fillRect/>
          </a:stretch>
        </p:blipFill>
        <p:spPr>
          <a:xfrm>
            <a:off x="841335" y="2402339"/>
            <a:ext cx="10509330" cy="3832482"/>
          </a:xfrm>
          <a:prstGeom prst="rect">
            <a:avLst/>
          </a:prstGeom>
        </p:spPr>
      </p:pic>
      <p:sp>
        <p:nvSpPr>
          <p:cNvPr id="2" name="标题 1"/>
          <p:cNvSpPr>
            <a:spLocks noGrp="1"/>
          </p:cNvSpPr>
          <p:nvPr>
            <p:ph type="title"/>
          </p:nvPr>
        </p:nvSpPr>
        <p:spPr/>
        <p:txBody>
          <a:bodyPr>
            <a:normAutofit/>
          </a:bodyPr>
          <a:lstStyle/>
          <a:p>
            <a:r>
              <a:rPr lang="en-US" altLang="zh-CN" dirty="0"/>
              <a:t>Approach: Overview</a:t>
            </a:r>
            <a:endParaRPr lang="zh-CN" altLang="en-US" dirty="0"/>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8</a:t>
            </a:fld>
            <a:endParaRPr lang="zh-CN" altLang="en-US"/>
          </a:p>
        </p:txBody>
      </p:sp>
      <p:sp>
        <p:nvSpPr>
          <p:cNvPr id="37" name="内容占位符 2">
            <a:extLst>
              <a:ext uri="{FF2B5EF4-FFF2-40B4-BE49-F238E27FC236}">
                <a16:creationId xmlns:a16="http://schemas.microsoft.com/office/drawing/2014/main" id="{2F64186F-FDA9-4AFE-90AE-7B5A236E0B14}"/>
              </a:ext>
            </a:extLst>
          </p:cNvPr>
          <p:cNvSpPr>
            <a:spLocks noGrp="1"/>
          </p:cNvSpPr>
          <p:nvPr>
            <p:ph idx="1"/>
          </p:nvPr>
        </p:nvSpPr>
        <p:spPr>
          <a:xfrm>
            <a:off x="0" y="1271327"/>
            <a:ext cx="11973899" cy="1329475"/>
          </a:xfrm>
        </p:spPr>
        <p:txBody>
          <a:bodyPr>
            <a:normAutofit/>
          </a:bodyPr>
          <a:lstStyle/>
          <a:p>
            <a:pPr algn="l"/>
            <a:r>
              <a:rPr lang="en-US" altLang="zh-CN" sz="2400" dirty="0">
                <a:latin typeface="LinLibertineT"/>
              </a:rPr>
              <a:t>In implementations, our approach consists of a </a:t>
            </a:r>
            <a:r>
              <a:rPr lang="en-US" altLang="zh-CN" sz="2400" dirty="0">
                <a:solidFill>
                  <a:srgbClr val="FF0000"/>
                </a:solidFill>
                <a:latin typeface="LinLibertineT"/>
              </a:rPr>
              <a:t>Textual Distilling Module </a:t>
            </a:r>
            <a:r>
              <a:rPr lang="en-US" altLang="zh-CN" sz="2400" dirty="0">
                <a:latin typeface="LinLibertineT"/>
              </a:rPr>
              <a:t>(TDM) and a </a:t>
            </a:r>
            <a:r>
              <a:rPr lang="en-US" altLang="zh-CN" sz="2400" dirty="0">
                <a:solidFill>
                  <a:srgbClr val="FF0000"/>
                </a:solidFill>
                <a:latin typeface="LinLibertineT"/>
              </a:rPr>
              <a:t>Textual Association Module </a:t>
            </a:r>
            <a:r>
              <a:rPr lang="en-US" altLang="zh-CN" sz="2400" dirty="0">
                <a:latin typeface="LinLibertineT"/>
              </a:rPr>
              <a:t>(TAM).</a:t>
            </a:r>
          </a:p>
        </p:txBody>
      </p:sp>
      <p:sp>
        <p:nvSpPr>
          <p:cNvPr id="4" name="矩形 3">
            <a:extLst>
              <a:ext uri="{FF2B5EF4-FFF2-40B4-BE49-F238E27FC236}">
                <a16:creationId xmlns:a16="http://schemas.microsoft.com/office/drawing/2014/main" id="{6F93BE1D-CAD7-4E44-B84E-3A75B9404D7A}"/>
              </a:ext>
            </a:extLst>
          </p:cNvPr>
          <p:cNvSpPr/>
          <p:nvPr/>
        </p:nvSpPr>
        <p:spPr>
          <a:xfrm>
            <a:off x="4981543" y="2402339"/>
            <a:ext cx="724775" cy="25221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C44A321F-BF36-450E-A29A-1DF757D02478}"/>
              </a:ext>
            </a:extLst>
          </p:cNvPr>
          <p:cNvSpPr/>
          <p:nvPr/>
        </p:nvSpPr>
        <p:spPr>
          <a:xfrm>
            <a:off x="7441329" y="2402339"/>
            <a:ext cx="724775" cy="25221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0970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6377BBA-E492-4A38-ADC1-B3F0E13A9936}"/>
              </a:ext>
            </a:extLst>
          </p:cNvPr>
          <p:cNvPicPr>
            <a:picLocks noChangeAspect="1"/>
          </p:cNvPicPr>
          <p:nvPr/>
        </p:nvPicPr>
        <p:blipFill>
          <a:blip r:embed="rId3"/>
          <a:stretch>
            <a:fillRect/>
          </a:stretch>
        </p:blipFill>
        <p:spPr>
          <a:xfrm>
            <a:off x="841335" y="2402339"/>
            <a:ext cx="10509330" cy="3832482"/>
          </a:xfrm>
          <a:prstGeom prst="rect">
            <a:avLst/>
          </a:prstGeom>
        </p:spPr>
      </p:pic>
      <p:sp>
        <p:nvSpPr>
          <p:cNvPr id="2" name="标题 1"/>
          <p:cNvSpPr>
            <a:spLocks noGrp="1"/>
          </p:cNvSpPr>
          <p:nvPr>
            <p:ph type="title"/>
          </p:nvPr>
        </p:nvSpPr>
        <p:spPr/>
        <p:txBody>
          <a:bodyPr>
            <a:normAutofit/>
          </a:bodyPr>
          <a:lstStyle/>
          <a:p>
            <a:r>
              <a:rPr lang="en-US" altLang="zh-CN" dirty="0"/>
              <a:t>Approach: Textual Distilling Module (TDM)</a:t>
            </a:r>
            <a:endParaRPr lang="zh-CN" altLang="en-US" dirty="0"/>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9</a:t>
            </a:fld>
            <a:endParaRPr lang="zh-CN" altLang="en-US"/>
          </a:p>
        </p:txBody>
      </p:sp>
      <p:sp>
        <p:nvSpPr>
          <p:cNvPr id="37" name="内容占位符 2">
            <a:extLst>
              <a:ext uri="{FF2B5EF4-FFF2-40B4-BE49-F238E27FC236}">
                <a16:creationId xmlns:a16="http://schemas.microsoft.com/office/drawing/2014/main" id="{2F64186F-FDA9-4AFE-90AE-7B5A236E0B14}"/>
              </a:ext>
            </a:extLst>
          </p:cNvPr>
          <p:cNvSpPr>
            <a:spLocks noGrp="1"/>
          </p:cNvSpPr>
          <p:nvPr>
            <p:ph idx="1"/>
          </p:nvPr>
        </p:nvSpPr>
        <p:spPr>
          <a:xfrm>
            <a:off x="0" y="1271327"/>
            <a:ext cx="11973899" cy="1329475"/>
          </a:xfrm>
        </p:spPr>
        <p:txBody>
          <a:bodyPr>
            <a:normAutofit/>
          </a:bodyPr>
          <a:lstStyle/>
          <a:p>
            <a:pPr algn="l"/>
            <a:r>
              <a:rPr lang="en-US" altLang="zh-CN" sz="2400" dirty="0">
                <a:latin typeface="LinLibertineT"/>
              </a:rPr>
              <a:t>The TDM focuses on </a:t>
            </a:r>
            <a:r>
              <a:rPr lang="en-US" altLang="zh-CN" sz="2400" dirty="0">
                <a:solidFill>
                  <a:srgbClr val="EA0000"/>
                </a:solidFill>
                <a:latin typeface="LinLibertineT"/>
              </a:rPr>
              <a:t>distilling textual concepts to the corresponding visual objects</a:t>
            </a:r>
            <a:r>
              <a:rPr lang="en-US" altLang="zh-CN" sz="2400" dirty="0">
                <a:latin typeface="LinLibertineT"/>
              </a:rPr>
              <a:t>, like “</a:t>
            </a:r>
            <a:r>
              <a:rPr lang="en-US" altLang="zh-CN" sz="2400" i="1" dirty="0">
                <a:latin typeface="LinLibertineT"/>
              </a:rPr>
              <a:t>woman</a:t>
            </a:r>
            <a:r>
              <a:rPr lang="en-US" altLang="zh-CN" sz="2400" dirty="0">
                <a:latin typeface="LinLibertineT"/>
              </a:rPr>
              <a:t>”, “</a:t>
            </a:r>
            <a:r>
              <a:rPr lang="en-US" altLang="zh-CN" sz="2400" i="1" dirty="0">
                <a:latin typeface="LinLibertineT"/>
              </a:rPr>
              <a:t>tennis</a:t>
            </a:r>
            <a:r>
              <a:rPr lang="en-US" altLang="zh-CN" sz="2400" dirty="0">
                <a:latin typeface="LinLibertineT"/>
              </a:rPr>
              <a:t>”, “</a:t>
            </a:r>
            <a:r>
              <a:rPr lang="en-US" altLang="zh-CN" sz="2400" i="1" dirty="0">
                <a:latin typeface="LinLibertineT"/>
              </a:rPr>
              <a:t>field</a:t>
            </a:r>
            <a:r>
              <a:rPr lang="en-US" altLang="zh-CN" sz="2400" dirty="0">
                <a:latin typeface="LinLibertineT"/>
              </a:rPr>
              <a:t>”, “</a:t>
            </a:r>
            <a:r>
              <a:rPr lang="en-US" altLang="zh-CN" sz="2400" i="1" dirty="0">
                <a:latin typeface="LinLibertineT"/>
              </a:rPr>
              <a:t>standing</a:t>
            </a:r>
            <a:r>
              <a:rPr lang="en-US" altLang="zh-CN" sz="2400" dirty="0">
                <a:latin typeface="LinLibertineT"/>
              </a:rPr>
              <a:t>” and “playing” in the red box.</a:t>
            </a:r>
          </a:p>
        </p:txBody>
      </p:sp>
      <p:sp>
        <p:nvSpPr>
          <p:cNvPr id="4" name="矩形 3">
            <a:extLst>
              <a:ext uri="{FF2B5EF4-FFF2-40B4-BE49-F238E27FC236}">
                <a16:creationId xmlns:a16="http://schemas.microsoft.com/office/drawing/2014/main" id="{BEE15F06-4A1C-4398-B923-2F597F98C78F}"/>
              </a:ext>
            </a:extLst>
          </p:cNvPr>
          <p:cNvSpPr/>
          <p:nvPr/>
        </p:nvSpPr>
        <p:spPr>
          <a:xfrm>
            <a:off x="3518703" y="2402340"/>
            <a:ext cx="3970117" cy="27252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42994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D177E4D-E340-45BB-AD0C-906574657F82}"/>
              </a:ext>
            </a:extLst>
          </p:cNvPr>
          <p:cNvPicPr>
            <a:picLocks noChangeAspect="1"/>
          </p:cNvPicPr>
          <p:nvPr/>
        </p:nvPicPr>
        <p:blipFill>
          <a:blip r:embed="rId3"/>
          <a:stretch>
            <a:fillRect/>
          </a:stretch>
        </p:blipFill>
        <p:spPr>
          <a:xfrm>
            <a:off x="841335" y="2402339"/>
            <a:ext cx="10509330" cy="3832482"/>
          </a:xfrm>
          <a:prstGeom prst="rect">
            <a:avLst/>
          </a:prstGeom>
        </p:spPr>
      </p:pic>
      <p:sp>
        <p:nvSpPr>
          <p:cNvPr id="2" name="标题 1"/>
          <p:cNvSpPr>
            <a:spLocks noGrp="1"/>
          </p:cNvSpPr>
          <p:nvPr>
            <p:ph type="title"/>
          </p:nvPr>
        </p:nvSpPr>
        <p:spPr/>
        <p:txBody>
          <a:bodyPr>
            <a:normAutofit/>
          </a:bodyPr>
          <a:lstStyle/>
          <a:p>
            <a:r>
              <a:rPr lang="en-US" altLang="zh-CN" dirty="0"/>
              <a:t>Approach: Textual Association Module (TAM)</a:t>
            </a:r>
            <a:endParaRPr lang="zh-CN" altLang="en-US" dirty="0"/>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10</a:t>
            </a:fld>
            <a:endParaRPr lang="zh-CN" altLang="en-US"/>
          </a:p>
        </p:txBody>
      </p:sp>
      <p:sp>
        <p:nvSpPr>
          <p:cNvPr id="37" name="内容占位符 2">
            <a:extLst>
              <a:ext uri="{FF2B5EF4-FFF2-40B4-BE49-F238E27FC236}">
                <a16:creationId xmlns:a16="http://schemas.microsoft.com/office/drawing/2014/main" id="{2F64186F-FDA9-4AFE-90AE-7B5A236E0B14}"/>
              </a:ext>
            </a:extLst>
          </p:cNvPr>
          <p:cNvSpPr>
            <a:spLocks noGrp="1"/>
          </p:cNvSpPr>
          <p:nvPr>
            <p:ph idx="1"/>
          </p:nvPr>
        </p:nvSpPr>
        <p:spPr>
          <a:xfrm>
            <a:off x="0" y="1271327"/>
            <a:ext cx="11973899" cy="1329475"/>
          </a:xfrm>
        </p:spPr>
        <p:txBody>
          <a:bodyPr>
            <a:normAutofit fontScale="92500"/>
          </a:bodyPr>
          <a:lstStyle/>
          <a:p>
            <a:pPr algn="l"/>
            <a:r>
              <a:rPr lang="en-US" altLang="zh-CN" sz="2400" dirty="0">
                <a:latin typeface="LinLibertineT"/>
              </a:rPr>
              <a:t>Since the textual concepts </a:t>
            </a:r>
            <a:r>
              <a:rPr lang="en-US" altLang="zh-CN" sz="2400" dirty="0">
                <a:solidFill>
                  <a:srgbClr val="FF0000"/>
                </a:solidFill>
                <a:latin typeface="LinLibertineT"/>
              </a:rPr>
              <a:t>are single words </a:t>
            </a:r>
            <a:r>
              <a:rPr lang="en-US" altLang="zh-CN" sz="2400" dirty="0">
                <a:latin typeface="LinLibertineT"/>
              </a:rPr>
              <a:t>and </a:t>
            </a:r>
            <a:r>
              <a:rPr lang="en-US" altLang="zh-CN" sz="2400" dirty="0">
                <a:solidFill>
                  <a:srgbClr val="EA0000"/>
                </a:solidFill>
                <a:latin typeface="LinLibertineT"/>
              </a:rPr>
              <a:t>only represent a fraction of a semantics</a:t>
            </a:r>
            <a:r>
              <a:rPr lang="en-US" altLang="zh-CN" sz="2400" dirty="0">
                <a:latin typeface="LinLibertineT"/>
              </a:rPr>
              <a:t>, we further introduce the TAM </a:t>
            </a:r>
            <a:r>
              <a:rPr lang="en-US" altLang="zh-CN" sz="2400" dirty="0">
                <a:solidFill>
                  <a:srgbClr val="EA0000"/>
                </a:solidFill>
                <a:latin typeface="LinLibertineT"/>
              </a:rPr>
              <a:t>to group related concepts to form a complete semantics</a:t>
            </a:r>
            <a:r>
              <a:rPr lang="en-US" altLang="zh-CN" sz="2400" dirty="0">
                <a:latin typeface="LinLibertineT"/>
              </a:rPr>
              <a:t>. For instance, we group three separated concepts “</a:t>
            </a:r>
            <a:r>
              <a:rPr lang="en-US" altLang="zh-CN" sz="2400" i="1" dirty="0">
                <a:latin typeface="LinLibertineT"/>
              </a:rPr>
              <a:t>woman</a:t>
            </a:r>
            <a:r>
              <a:rPr lang="en-US" altLang="zh-CN" sz="2400" dirty="0">
                <a:latin typeface="LinLibertineT"/>
              </a:rPr>
              <a:t>”, “</a:t>
            </a:r>
            <a:r>
              <a:rPr lang="en-US" altLang="zh-CN" sz="2400" i="1" dirty="0">
                <a:latin typeface="LinLibertineT"/>
              </a:rPr>
              <a:t>tennis</a:t>
            </a:r>
            <a:r>
              <a:rPr lang="en-US" altLang="zh-CN" sz="2400" dirty="0">
                <a:latin typeface="LinLibertineT"/>
              </a:rPr>
              <a:t>” and “</a:t>
            </a:r>
            <a:r>
              <a:rPr lang="en-US" altLang="zh-CN" sz="2400" i="1" dirty="0">
                <a:latin typeface="LinLibertineT"/>
              </a:rPr>
              <a:t>playing</a:t>
            </a:r>
            <a:r>
              <a:rPr lang="en-US" altLang="zh-CN" sz="2400" dirty="0">
                <a:latin typeface="LinLibertineT"/>
              </a:rPr>
              <a:t>” into a phrase “</a:t>
            </a:r>
            <a:r>
              <a:rPr lang="en-US" altLang="zh-CN" sz="2400" i="1" dirty="0">
                <a:latin typeface="LinLibertineT"/>
              </a:rPr>
              <a:t>woman</a:t>
            </a:r>
            <a:r>
              <a:rPr lang="en-US" altLang="zh-CN" sz="2400" dirty="0">
                <a:latin typeface="LinLibertineT"/>
              </a:rPr>
              <a:t> </a:t>
            </a:r>
            <a:r>
              <a:rPr lang="en-US" altLang="zh-CN" sz="2400" i="1" dirty="0">
                <a:latin typeface="LinLibertineT"/>
              </a:rPr>
              <a:t>playing</a:t>
            </a:r>
            <a:r>
              <a:rPr lang="en-US" altLang="zh-CN" sz="2400" dirty="0">
                <a:latin typeface="LinLibertineT"/>
              </a:rPr>
              <a:t> </a:t>
            </a:r>
            <a:r>
              <a:rPr lang="en-US" altLang="zh-CN" sz="2400" i="1" dirty="0">
                <a:latin typeface="LinLibertineT"/>
              </a:rPr>
              <a:t>tennis</a:t>
            </a:r>
            <a:r>
              <a:rPr lang="en-US" altLang="zh-CN" sz="2400" dirty="0">
                <a:latin typeface="LinLibertineT"/>
              </a:rPr>
              <a:t>”.</a:t>
            </a:r>
          </a:p>
        </p:txBody>
      </p:sp>
      <p:sp>
        <p:nvSpPr>
          <p:cNvPr id="9" name="矩形 8">
            <a:extLst>
              <a:ext uri="{FF2B5EF4-FFF2-40B4-BE49-F238E27FC236}">
                <a16:creationId xmlns:a16="http://schemas.microsoft.com/office/drawing/2014/main" id="{DDAC0783-C714-4BFD-A261-42CD2177FC6A}"/>
              </a:ext>
            </a:extLst>
          </p:cNvPr>
          <p:cNvSpPr/>
          <p:nvPr/>
        </p:nvSpPr>
        <p:spPr>
          <a:xfrm>
            <a:off x="5706319" y="2402340"/>
            <a:ext cx="4085863" cy="27252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5181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Approach: Summary</a:t>
            </a:r>
            <a:endParaRPr lang="zh-CN" altLang="en-US" dirty="0"/>
          </a:p>
        </p:txBody>
      </p:sp>
      <p:sp>
        <p:nvSpPr>
          <p:cNvPr id="3" name="内容占位符 2"/>
          <p:cNvSpPr>
            <a:spLocks noGrp="1"/>
          </p:cNvSpPr>
          <p:nvPr>
            <p:ph idx="1"/>
          </p:nvPr>
        </p:nvSpPr>
        <p:spPr>
          <a:xfrm>
            <a:off x="533400" y="1453776"/>
            <a:ext cx="10820400" cy="5175624"/>
          </a:xfrm>
        </p:spPr>
        <p:txBody>
          <a:bodyPr>
            <a:normAutofit/>
          </a:bodyPr>
          <a:lstStyle/>
          <a:p>
            <a:r>
              <a:rPr lang="en-US" altLang="zh-CN" dirty="0"/>
              <a:t>In this manner, we can connect visual objects to well-organized textual concepts and in turn generate textual-enriched image features. Such a process is essential in the encoder to bridge the gap between vision and language domains, and is able to obtain textual-enriched image features generally not explicitly learned by existing systems.</a:t>
            </a:r>
          </a:p>
        </p:txBody>
      </p:sp>
      <p:sp>
        <p:nvSpPr>
          <p:cNvPr id="8" name="页脚占位符 7">
            <a:extLst>
              <a:ext uri="{FF2B5EF4-FFF2-40B4-BE49-F238E27FC236}">
                <a16:creationId xmlns:a16="http://schemas.microsoft.com/office/drawing/2014/main" id="{AE8C9982-446E-4AF8-833C-DF1F1DD2D33A}"/>
              </a:ext>
            </a:extLst>
          </p:cNvPr>
          <p:cNvSpPr>
            <a:spLocks noGrp="1"/>
          </p:cNvSpPr>
          <p:nvPr>
            <p:ph type="ftr" sz="quarter" idx="11"/>
          </p:nvPr>
        </p:nvSpPr>
        <p:spPr/>
        <p:txBody>
          <a:bodyPr/>
          <a:lstStyle/>
          <a:p>
            <a:endParaRPr lang="en-US" altLang="zh-CN" dirty="0"/>
          </a:p>
        </p:txBody>
      </p:sp>
      <p:sp>
        <p:nvSpPr>
          <p:cNvPr id="9" name="灯片编号占位符 8">
            <a:extLst>
              <a:ext uri="{FF2B5EF4-FFF2-40B4-BE49-F238E27FC236}">
                <a16:creationId xmlns:a16="http://schemas.microsoft.com/office/drawing/2014/main" id="{D19DAD48-5A5D-44F0-84DE-89E103386C73}"/>
              </a:ext>
            </a:extLst>
          </p:cNvPr>
          <p:cNvSpPr>
            <a:spLocks noGrp="1"/>
          </p:cNvSpPr>
          <p:nvPr>
            <p:ph type="sldNum" sz="quarter" idx="12"/>
          </p:nvPr>
        </p:nvSpPr>
        <p:spPr/>
        <p:txBody>
          <a:bodyPr/>
          <a:lstStyle/>
          <a:p>
            <a:fld id="{07703EE9-A018-4270-837F-8601F4153809}" type="slidenum">
              <a:rPr lang="en-US" altLang="zh-CN" smtClean="0"/>
              <a:pPr/>
              <a:t>11</a:t>
            </a:fld>
            <a:endParaRPr lang="en-US" altLang="zh-CN"/>
          </a:p>
        </p:txBody>
      </p:sp>
    </p:spTree>
    <p:extLst>
      <p:ext uri="{BB962C8B-B14F-4D97-AF65-F5344CB8AC3E}">
        <p14:creationId xmlns:p14="http://schemas.microsoft.com/office/powerpoint/2010/main" val="3376404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ctrTitle"/>
          </p:nvPr>
        </p:nvSpPr>
        <p:spPr>
          <a:xfrm>
            <a:off x="0" y="2461794"/>
            <a:ext cx="12192000" cy="2387600"/>
          </a:xfrm>
        </p:spPr>
        <p:txBody>
          <a:bodyPr>
            <a:normAutofit/>
          </a:bodyPr>
          <a:lstStyle/>
          <a:p>
            <a:r>
              <a:rPr lang="en-US" altLang="zh-CN" dirty="0"/>
              <a:t>3. Experiments</a:t>
            </a:r>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12</a:t>
            </a:fld>
            <a:endParaRPr lang="zh-CN" altLang="en-US"/>
          </a:p>
        </p:txBody>
      </p:sp>
    </p:spTree>
    <p:extLst>
      <p:ext uri="{BB962C8B-B14F-4D97-AF65-F5344CB8AC3E}">
        <p14:creationId xmlns:p14="http://schemas.microsoft.com/office/powerpoint/2010/main" val="15959162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Experiments: Datasets and Metrics</a:t>
            </a:r>
            <a:endParaRPr lang="zh-CN" altLang="en-US" dirty="0"/>
          </a:p>
        </p:txBody>
      </p:sp>
      <p:sp>
        <p:nvSpPr>
          <p:cNvPr id="8" name="页脚占位符 7">
            <a:extLst>
              <a:ext uri="{FF2B5EF4-FFF2-40B4-BE49-F238E27FC236}">
                <a16:creationId xmlns:a16="http://schemas.microsoft.com/office/drawing/2014/main" id="{AE8C9982-446E-4AF8-833C-DF1F1DD2D33A}"/>
              </a:ext>
            </a:extLst>
          </p:cNvPr>
          <p:cNvSpPr>
            <a:spLocks noGrp="1"/>
          </p:cNvSpPr>
          <p:nvPr>
            <p:ph type="ftr" sz="quarter" idx="11"/>
          </p:nvPr>
        </p:nvSpPr>
        <p:spPr/>
        <p:txBody>
          <a:bodyPr/>
          <a:lstStyle/>
          <a:p>
            <a:endParaRPr lang="en-US" altLang="zh-CN" dirty="0"/>
          </a:p>
        </p:txBody>
      </p:sp>
      <p:sp>
        <p:nvSpPr>
          <p:cNvPr id="9" name="灯片编号占位符 8">
            <a:extLst>
              <a:ext uri="{FF2B5EF4-FFF2-40B4-BE49-F238E27FC236}">
                <a16:creationId xmlns:a16="http://schemas.microsoft.com/office/drawing/2014/main" id="{D19DAD48-5A5D-44F0-84DE-89E103386C73}"/>
              </a:ext>
            </a:extLst>
          </p:cNvPr>
          <p:cNvSpPr>
            <a:spLocks noGrp="1"/>
          </p:cNvSpPr>
          <p:nvPr>
            <p:ph type="sldNum" sz="quarter" idx="12"/>
          </p:nvPr>
        </p:nvSpPr>
        <p:spPr/>
        <p:txBody>
          <a:bodyPr/>
          <a:lstStyle/>
          <a:p>
            <a:fld id="{07703EE9-A018-4270-837F-8601F4153809}" type="slidenum">
              <a:rPr lang="en-US" altLang="zh-CN" smtClean="0"/>
              <a:pPr/>
              <a:t>13</a:t>
            </a:fld>
            <a:endParaRPr lang="en-US" altLang="zh-CN"/>
          </a:p>
        </p:txBody>
      </p:sp>
      <p:sp>
        <p:nvSpPr>
          <p:cNvPr id="30" name="文本框 1">
            <a:extLst>
              <a:ext uri="{FF2B5EF4-FFF2-40B4-BE49-F238E27FC236}">
                <a16:creationId xmlns:a16="http://schemas.microsoft.com/office/drawing/2014/main" id="{F3523285-0632-48DB-9B86-F3B568BD9EDE}"/>
              </a:ext>
            </a:extLst>
          </p:cNvPr>
          <p:cNvSpPr txBox="1"/>
          <p:nvPr/>
        </p:nvSpPr>
        <p:spPr>
          <a:xfrm>
            <a:off x="2362486" y="1862023"/>
            <a:ext cx="5081384" cy="707886"/>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prstClr val="black"/>
                </a:solidFill>
                <a:effectLst/>
                <a:uLnTx/>
                <a:uFillTx/>
              </a:rPr>
              <a:t>Microsoft COCO (MSCOCO) and Flickr30k</a:t>
            </a:r>
            <a:endParaRPr kumimoji="0" lang="en-US" altLang="zh-CN" sz="2000" b="0" i="0" u="none" strike="noStrike" kern="0" cap="none" spc="0" normalizeH="0" baseline="0" noProof="0" dirty="0">
              <a:ln>
                <a:noFill/>
              </a:ln>
              <a:solidFill>
                <a:prstClr val="black"/>
              </a:solidFill>
              <a:effectLst/>
              <a:uLnTx/>
              <a:uFillTx/>
            </a:endParaRP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black"/>
              </a:solidFill>
              <a:effectLst/>
              <a:uLnTx/>
              <a:uFillTx/>
            </a:endParaRPr>
          </a:p>
        </p:txBody>
      </p:sp>
      <p:sp>
        <p:nvSpPr>
          <p:cNvPr id="31" name="文本框 2">
            <a:extLst>
              <a:ext uri="{FF2B5EF4-FFF2-40B4-BE49-F238E27FC236}">
                <a16:creationId xmlns:a16="http://schemas.microsoft.com/office/drawing/2014/main" id="{454919AB-22B4-46B7-9562-F0F24E4BF68E}"/>
              </a:ext>
            </a:extLst>
          </p:cNvPr>
          <p:cNvSpPr txBox="1"/>
          <p:nvPr/>
        </p:nvSpPr>
        <p:spPr>
          <a:xfrm>
            <a:off x="4177686" y="1439525"/>
            <a:ext cx="2354228"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B050"/>
                </a:solidFill>
                <a:effectLst/>
                <a:uLnTx/>
                <a:uFillTx/>
              </a:rPr>
              <a:t>Datasets</a:t>
            </a:r>
            <a:endParaRPr kumimoji="0" lang="zh-CN" altLang="en-US" sz="2000" b="0" i="0" u="none" strike="noStrike" kern="0" cap="none" spc="0" normalizeH="0" baseline="0" noProof="0" dirty="0">
              <a:ln>
                <a:noFill/>
              </a:ln>
              <a:solidFill>
                <a:srgbClr val="00B050"/>
              </a:solidFill>
              <a:effectLst/>
              <a:uLnTx/>
              <a:uFillTx/>
            </a:endParaRPr>
          </a:p>
        </p:txBody>
      </p:sp>
      <p:sp>
        <p:nvSpPr>
          <p:cNvPr id="32" name="文本框 8">
            <a:extLst>
              <a:ext uri="{FF2B5EF4-FFF2-40B4-BE49-F238E27FC236}">
                <a16:creationId xmlns:a16="http://schemas.microsoft.com/office/drawing/2014/main" id="{5E41F6D2-E381-412B-BBC8-133F55524194}"/>
              </a:ext>
            </a:extLst>
          </p:cNvPr>
          <p:cNvSpPr txBox="1"/>
          <p:nvPr/>
        </p:nvSpPr>
        <p:spPr>
          <a:xfrm>
            <a:off x="8881832" y="1784965"/>
            <a:ext cx="140806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B050"/>
                </a:solidFill>
                <a:effectLst/>
                <a:uLnTx/>
                <a:uFillTx/>
              </a:rPr>
              <a:t>Metrics</a:t>
            </a:r>
            <a:endParaRPr kumimoji="0" lang="zh-CN" altLang="en-US" sz="2000" b="0" i="0" u="none" strike="noStrike" kern="0" cap="none" spc="0" normalizeH="0" baseline="0" noProof="0" dirty="0">
              <a:ln>
                <a:noFill/>
              </a:ln>
              <a:solidFill>
                <a:srgbClr val="00B050"/>
              </a:solidFill>
              <a:effectLst/>
              <a:uLnTx/>
              <a:uFillTx/>
            </a:endParaRPr>
          </a:p>
        </p:txBody>
      </p:sp>
      <p:pic>
        <p:nvPicPr>
          <p:cNvPr id="33" name="Picture 2" descr="D:\image_caption\experiment\cocodataset\val2014\COCO_val2014_000000128791.jpg">
            <a:extLst>
              <a:ext uri="{FF2B5EF4-FFF2-40B4-BE49-F238E27FC236}">
                <a16:creationId xmlns:a16="http://schemas.microsoft.com/office/drawing/2014/main" id="{D96F5CB4-B95F-4593-BEFD-9B64E6CE6577}"/>
              </a:ext>
            </a:extLst>
          </p:cNvPr>
          <p:cNvPicPr>
            <a:picLocks noChangeAspect="1" noChangeArrowheads="1"/>
          </p:cNvPicPr>
          <p:nvPr/>
        </p:nvPicPr>
        <p:blipFill>
          <a:blip r:embed="rId3" cstate="print"/>
          <a:srcRect/>
          <a:stretch>
            <a:fillRect/>
          </a:stretch>
        </p:blipFill>
        <p:spPr bwMode="auto">
          <a:xfrm>
            <a:off x="1543462" y="2397760"/>
            <a:ext cx="2871893" cy="2692400"/>
          </a:xfrm>
          <a:prstGeom prst="rect">
            <a:avLst/>
          </a:prstGeom>
          <a:noFill/>
        </p:spPr>
      </p:pic>
      <p:sp>
        <p:nvSpPr>
          <p:cNvPr id="34" name="圆角矩形 2">
            <a:extLst>
              <a:ext uri="{FF2B5EF4-FFF2-40B4-BE49-F238E27FC236}">
                <a16:creationId xmlns:a16="http://schemas.microsoft.com/office/drawing/2014/main" id="{4A31DC43-F237-4C39-9A1E-84B762C01894}"/>
              </a:ext>
            </a:extLst>
          </p:cNvPr>
          <p:cNvSpPr>
            <a:spLocks noChangeArrowheads="1"/>
          </p:cNvSpPr>
          <p:nvPr/>
        </p:nvSpPr>
        <p:spPr bwMode="auto">
          <a:xfrm>
            <a:off x="4686195" y="2416810"/>
            <a:ext cx="3625955" cy="2851086"/>
          </a:xfrm>
          <a:prstGeom prst="roundRect">
            <a:avLst>
              <a:gd name="adj" fmla="val 9694"/>
            </a:avLst>
          </a:prstGeom>
          <a:solidFill>
            <a:srgbClr val="E5FFFF"/>
          </a:solidFill>
          <a:ln w="9525" algn="ctr">
            <a:solidFill>
              <a:srgbClr val="007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76" tIns="34289" rIns="68576" bIns="34289" anchor="ctr"/>
          <a:lstStyle/>
          <a:p>
            <a:pPr marL="0" marR="0" lvl="0" indent="0" defTabSz="685749"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black"/>
              </a:solidFill>
              <a:effectLst/>
              <a:uLnTx/>
              <a:uFillTx/>
            </a:endParaRPr>
          </a:p>
        </p:txBody>
      </p:sp>
      <p:sp>
        <p:nvSpPr>
          <p:cNvPr id="35" name="矩形 1">
            <a:extLst>
              <a:ext uri="{FF2B5EF4-FFF2-40B4-BE49-F238E27FC236}">
                <a16:creationId xmlns:a16="http://schemas.microsoft.com/office/drawing/2014/main" id="{F0F104E2-1CF6-45AA-90E5-FC8E181ABF57}"/>
              </a:ext>
            </a:extLst>
          </p:cNvPr>
          <p:cNvSpPr>
            <a:spLocks noChangeArrowheads="1"/>
          </p:cNvSpPr>
          <p:nvPr/>
        </p:nvSpPr>
        <p:spPr bwMode="auto">
          <a:xfrm>
            <a:off x="4743344" y="2464439"/>
            <a:ext cx="3466306" cy="25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6" tIns="34289" rIns="68576" bIns="34289">
            <a:spAutoFit/>
          </a:bodyPr>
          <a:lstStyle/>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0" cap="none" spc="0" normalizeH="0" baseline="0" noProof="0" dirty="0">
                <a:ln>
                  <a:noFill/>
                </a:ln>
                <a:solidFill>
                  <a:prstClr val="black"/>
                </a:solidFill>
                <a:effectLst/>
                <a:uLnTx/>
                <a:uFillTx/>
              </a:rPr>
              <a:t>Sparrow bird on branch, with beak inspecting leaves on branch</a:t>
            </a:r>
            <a:r>
              <a:rPr kumimoji="0" lang="en-US" altLang="zh-CN" sz="1800" b="0" i="0" u="none" strike="noStrike" kern="0" cap="none" spc="0" normalizeH="0" baseline="0" noProof="0" dirty="0">
                <a:ln>
                  <a:noFill/>
                </a:ln>
                <a:solidFill>
                  <a:srgbClr val="4F81BD">
                    <a:lumMod val="50000"/>
                  </a:srgbClr>
                </a:solidFill>
                <a:effectLst/>
                <a:uLnTx/>
                <a:uFillTx/>
              </a:rPr>
              <a:t>.  </a:t>
            </a: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0" cap="none" spc="0" normalizeH="0" baseline="0" noProof="0" dirty="0">
                <a:ln>
                  <a:noFill/>
                </a:ln>
                <a:solidFill>
                  <a:srgbClr val="0000FF"/>
                </a:solidFill>
                <a:effectLst/>
                <a:uLnTx/>
                <a:uFillTx/>
              </a:rPr>
              <a:t>A bird sitting on the branch of a tree near leaves.</a:t>
            </a: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0" cap="none" spc="0" normalizeH="0" baseline="0" noProof="0" dirty="0">
                <a:ln>
                  <a:noFill/>
                </a:ln>
                <a:solidFill>
                  <a:prstClr val="black"/>
                </a:solidFill>
                <a:effectLst/>
                <a:uLnTx/>
                <a:uFillTx/>
              </a:rPr>
              <a:t>A bird that is sitting in a tree. </a:t>
            </a: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0" cap="none" spc="0" normalizeH="0" baseline="0" noProof="0" dirty="0">
                <a:ln>
                  <a:noFill/>
                </a:ln>
                <a:solidFill>
                  <a:srgbClr val="0000FF"/>
                </a:solidFill>
                <a:effectLst/>
                <a:uLnTx/>
                <a:uFillTx/>
              </a:rPr>
              <a:t>a bird sitting on a branch of a tree. </a:t>
            </a: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0" cap="none" spc="0" normalizeH="0" baseline="0" noProof="0" dirty="0">
                <a:ln>
                  <a:noFill/>
                </a:ln>
                <a:solidFill>
                  <a:prstClr val="black"/>
                </a:solidFill>
                <a:effectLst/>
                <a:uLnTx/>
                <a:uFillTx/>
              </a:rPr>
              <a:t>a bird that is on a small branch of a tree.</a:t>
            </a:r>
          </a:p>
        </p:txBody>
      </p:sp>
      <p:sp>
        <p:nvSpPr>
          <p:cNvPr id="36" name="圆角矩形 2">
            <a:extLst>
              <a:ext uri="{FF2B5EF4-FFF2-40B4-BE49-F238E27FC236}">
                <a16:creationId xmlns:a16="http://schemas.microsoft.com/office/drawing/2014/main" id="{288E16D1-0F47-48E1-A4EA-A80D4C8E0B93}"/>
              </a:ext>
            </a:extLst>
          </p:cNvPr>
          <p:cNvSpPr>
            <a:spLocks noChangeArrowheads="1"/>
          </p:cNvSpPr>
          <p:nvPr/>
        </p:nvSpPr>
        <p:spPr bwMode="auto">
          <a:xfrm>
            <a:off x="8796897" y="2416810"/>
            <a:ext cx="1186654" cy="2653030"/>
          </a:xfrm>
          <a:prstGeom prst="roundRect">
            <a:avLst>
              <a:gd name="adj" fmla="val 9694"/>
            </a:avLst>
          </a:prstGeom>
          <a:solidFill>
            <a:srgbClr val="E5FFFF"/>
          </a:solidFill>
          <a:ln w="9525" algn="ctr">
            <a:solidFill>
              <a:srgbClr val="007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76" tIns="34289" rIns="68576" bIns="34289" anchor="ctr"/>
          <a:lstStyle/>
          <a:p>
            <a:pPr marL="0" marR="0" lvl="0" indent="0" defTabSz="685749"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black"/>
              </a:solidFill>
              <a:effectLst/>
              <a:uLnTx/>
              <a:uFillTx/>
            </a:endParaRPr>
          </a:p>
        </p:txBody>
      </p:sp>
      <p:sp>
        <p:nvSpPr>
          <p:cNvPr id="37" name="矩形 1">
            <a:extLst>
              <a:ext uri="{FF2B5EF4-FFF2-40B4-BE49-F238E27FC236}">
                <a16:creationId xmlns:a16="http://schemas.microsoft.com/office/drawing/2014/main" id="{8A720DF2-41D1-4FD2-A51B-5C6FA0D748BF}"/>
              </a:ext>
            </a:extLst>
          </p:cNvPr>
          <p:cNvSpPr>
            <a:spLocks noChangeArrowheads="1"/>
          </p:cNvSpPr>
          <p:nvPr/>
        </p:nvSpPr>
        <p:spPr bwMode="auto">
          <a:xfrm>
            <a:off x="8813405" y="2494919"/>
            <a:ext cx="1231106" cy="25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6" tIns="34289" rIns="68576" bIns="34289">
            <a:spAutoFit/>
          </a:bodyPr>
          <a:lstStyle/>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0" cap="none" spc="0" normalizeH="0" baseline="0" noProof="0" dirty="0">
                <a:ln>
                  <a:noFill/>
                </a:ln>
                <a:solidFill>
                  <a:prstClr val="black"/>
                </a:solidFill>
                <a:effectLst/>
                <a:uLnTx/>
                <a:uFillTx/>
              </a:rPr>
              <a:t>SPICE</a:t>
            </a: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altLang="zh-CN" sz="1800" b="0" i="0" u="none" strike="noStrike" kern="0" cap="none" spc="0" normalizeH="0" baseline="0" noProof="0" dirty="0">
              <a:ln>
                <a:noFill/>
              </a:ln>
              <a:solidFill>
                <a:prstClr val="black"/>
              </a:solidFill>
              <a:effectLst/>
              <a:uLnTx/>
              <a:uFillTx/>
            </a:endParaRP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0" cap="none" spc="0" normalizeH="0" baseline="0" noProof="0" dirty="0" err="1">
                <a:ln>
                  <a:noFill/>
                </a:ln>
                <a:solidFill>
                  <a:prstClr val="black"/>
                </a:solidFill>
                <a:effectLst/>
                <a:uLnTx/>
                <a:uFillTx/>
              </a:rPr>
              <a:t>CIDEr</a:t>
            </a:r>
            <a:endParaRPr kumimoji="0" lang="en-US" altLang="zh-CN" sz="1800" b="0" i="0" u="none" strike="noStrike" kern="0" cap="none" spc="0" normalizeH="0" baseline="0" noProof="0" dirty="0">
              <a:ln>
                <a:noFill/>
              </a:ln>
              <a:solidFill>
                <a:prstClr val="black"/>
              </a:solidFill>
              <a:effectLst/>
              <a:uLnTx/>
              <a:uFillTx/>
            </a:endParaRP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altLang="zh-CN" sz="1800" b="0" i="0" u="none" strike="noStrike" kern="0" cap="none" spc="0" normalizeH="0" baseline="0" noProof="0" dirty="0">
              <a:ln>
                <a:noFill/>
              </a:ln>
              <a:solidFill>
                <a:prstClr val="black"/>
              </a:solidFill>
              <a:effectLst/>
              <a:uLnTx/>
              <a:uFillTx/>
            </a:endParaRP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0" cap="none" spc="0" normalizeH="0" baseline="0" noProof="0" dirty="0">
                <a:ln>
                  <a:noFill/>
                </a:ln>
                <a:solidFill>
                  <a:prstClr val="black"/>
                </a:solidFill>
                <a:effectLst/>
                <a:uLnTx/>
                <a:uFillTx/>
              </a:rPr>
              <a:t>BLEU</a:t>
            </a: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altLang="zh-CN" sz="1800" b="0" i="0" u="none" strike="noStrike" kern="0" cap="none" spc="0" normalizeH="0" baseline="0" noProof="0" dirty="0">
              <a:ln>
                <a:noFill/>
              </a:ln>
              <a:solidFill>
                <a:prstClr val="black"/>
              </a:solidFill>
              <a:effectLst/>
              <a:uLnTx/>
              <a:uFillTx/>
            </a:endParaRP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0" cap="none" spc="0" normalizeH="0" baseline="0" noProof="0" dirty="0">
                <a:ln>
                  <a:noFill/>
                </a:ln>
                <a:solidFill>
                  <a:prstClr val="black"/>
                </a:solidFill>
                <a:effectLst/>
                <a:uLnTx/>
                <a:uFillTx/>
              </a:rPr>
              <a:t>METEOR</a:t>
            </a: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altLang="zh-CN" sz="1800" b="0" i="0" u="none" strike="noStrike" kern="0" cap="none" spc="0" normalizeH="0" baseline="0" noProof="0" dirty="0">
              <a:ln>
                <a:noFill/>
              </a:ln>
              <a:solidFill>
                <a:prstClr val="black"/>
              </a:solidFill>
              <a:effectLst/>
              <a:uLnTx/>
              <a:uFillTx/>
            </a:endParaRPr>
          </a:p>
          <a:p>
            <a:pPr marL="257156" marR="0" lvl="0" indent="-257156" algn="just" defTabSz="685749"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0" cap="none" spc="0" normalizeH="0" baseline="0" noProof="0" dirty="0">
                <a:ln>
                  <a:noFill/>
                </a:ln>
                <a:solidFill>
                  <a:prstClr val="black"/>
                </a:solidFill>
                <a:effectLst/>
                <a:uLnTx/>
                <a:uFillTx/>
              </a:rPr>
              <a:t>ROUGE</a:t>
            </a:r>
          </a:p>
        </p:txBody>
      </p:sp>
    </p:spTree>
    <p:extLst>
      <p:ext uri="{BB962C8B-B14F-4D97-AF65-F5344CB8AC3E}">
        <p14:creationId xmlns:p14="http://schemas.microsoft.com/office/powerpoint/2010/main" val="4053469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Experiments: Performance on the MSCOCO</a:t>
            </a:r>
            <a:endParaRPr lang="zh-CN" altLang="en-US" dirty="0"/>
          </a:p>
        </p:txBody>
      </p:sp>
      <p:sp>
        <p:nvSpPr>
          <p:cNvPr id="8" name="页脚占位符 7">
            <a:extLst>
              <a:ext uri="{FF2B5EF4-FFF2-40B4-BE49-F238E27FC236}">
                <a16:creationId xmlns:a16="http://schemas.microsoft.com/office/drawing/2014/main" id="{AE8C9982-446E-4AF8-833C-DF1F1DD2D33A}"/>
              </a:ext>
            </a:extLst>
          </p:cNvPr>
          <p:cNvSpPr>
            <a:spLocks noGrp="1"/>
          </p:cNvSpPr>
          <p:nvPr>
            <p:ph type="ftr" sz="quarter" idx="11"/>
          </p:nvPr>
        </p:nvSpPr>
        <p:spPr/>
        <p:txBody>
          <a:bodyPr/>
          <a:lstStyle/>
          <a:p>
            <a:endParaRPr lang="en-US" altLang="zh-CN" dirty="0"/>
          </a:p>
        </p:txBody>
      </p:sp>
      <p:sp>
        <p:nvSpPr>
          <p:cNvPr id="9" name="灯片编号占位符 8">
            <a:extLst>
              <a:ext uri="{FF2B5EF4-FFF2-40B4-BE49-F238E27FC236}">
                <a16:creationId xmlns:a16="http://schemas.microsoft.com/office/drawing/2014/main" id="{D19DAD48-5A5D-44F0-84DE-89E103386C73}"/>
              </a:ext>
            </a:extLst>
          </p:cNvPr>
          <p:cNvSpPr>
            <a:spLocks noGrp="1"/>
          </p:cNvSpPr>
          <p:nvPr>
            <p:ph type="sldNum" sz="quarter" idx="12"/>
          </p:nvPr>
        </p:nvSpPr>
        <p:spPr/>
        <p:txBody>
          <a:bodyPr/>
          <a:lstStyle/>
          <a:p>
            <a:fld id="{07703EE9-A018-4270-837F-8601F4153809}" type="slidenum">
              <a:rPr lang="en-US" altLang="zh-CN" smtClean="0"/>
              <a:pPr/>
              <a:t>14</a:t>
            </a:fld>
            <a:endParaRPr lang="en-US" altLang="zh-CN"/>
          </a:p>
        </p:txBody>
      </p:sp>
      <p:pic>
        <p:nvPicPr>
          <p:cNvPr id="3" name="图片 2">
            <a:extLst>
              <a:ext uri="{FF2B5EF4-FFF2-40B4-BE49-F238E27FC236}">
                <a16:creationId xmlns:a16="http://schemas.microsoft.com/office/drawing/2014/main" id="{64C2D2B0-EBC3-496B-A72A-6ABCD34CF38B}"/>
              </a:ext>
            </a:extLst>
          </p:cNvPr>
          <p:cNvPicPr>
            <a:picLocks noChangeAspect="1"/>
          </p:cNvPicPr>
          <p:nvPr/>
        </p:nvPicPr>
        <p:blipFill>
          <a:blip r:embed="rId3"/>
          <a:stretch>
            <a:fillRect/>
          </a:stretch>
        </p:blipFill>
        <p:spPr>
          <a:xfrm>
            <a:off x="2406523" y="1264738"/>
            <a:ext cx="7964393" cy="4752645"/>
          </a:xfrm>
          <a:prstGeom prst="rect">
            <a:avLst/>
          </a:prstGeom>
        </p:spPr>
      </p:pic>
      <p:sp>
        <p:nvSpPr>
          <p:cNvPr id="17" name="内容占位符 2">
            <a:extLst>
              <a:ext uri="{FF2B5EF4-FFF2-40B4-BE49-F238E27FC236}">
                <a16:creationId xmlns:a16="http://schemas.microsoft.com/office/drawing/2014/main" id="{5EAB25A2-0023-4BB6-8BBC-E5FBA3F6AA4A}"/>
              </a:ext>
            </a:extLst>
          </p:cNvPr>
          <p:cNvSpPr>
            <a:spLocks noGrp="1"/>
          </p:cNvSpPr>
          <p:nvPr>
            <p:ph idx="1"/>
          </p:nvPr>
        </p:nvSpPr>
        <p:spPr>
          <a:xfrm>
            <a:off x="224247" y="5893140"/>
            <a:ext cx="12157757" cy="926419"/>
          </a:xfrm>
        </p:spPr>
        <p:txBody>
          <a:bodyPr>
            <a:normAutofit lnSpcReduction="10000"/>
          </a:bodyPr>
          <a:lstStyle/>
          <a:p>
            <a:pPr algn="l"/>
            <a:r>
              <a:rPr lang="en-US" altLang="zh-CN" sz="2800" b="0" i="0" u="none" strike="noStrike" baseline="0" dirty="0">
                <a:latin typeface="LinLibertineT"/>
              </a:rPr>
              <a:t>By using our proposed textual-enriched image features, improvements of up to </a:t>
            </a:r>
            <a:r>
              <a:rPr lang="en-US" altLang="zh-CN" sz="2800" b="0" i="0" u="none" strike="noStrike" baseline="0" dirty="0">
                <a:solidFill>
                  <a:srgbClr val="EA0000"/>
                </a:solidFill>
                <a:latin typeface="LinLibertineT"/>
              </a:rPr>
              <a:t>10% </a:t>
            </a:r>
            <a:r>
              <a:rPr lang="en-US" altLang="zh-CN" sz="2800" b="0" i="0" u="none" strike="noStrike" baseline="0" dirty="0">
                <a:latin typeface="LinLibertineT"/>
              </a:rPr>
              <a:t>and </a:t>
            </a:r>
            <a:r>
              <a:rPr lang="en-US" altLang="zh-CN" sz="2800" b="0" i="0" u="none" strike="noStrike" baseline="0" dirty="0">
                <a:solidFill>
                  <a:srgbClr val="EA0000"/>
                </a:solidFill>
                <a:latin typeface="LinLibertineT"/>
              </a:rPr>
              <a:t>9% </a:t>
            </a:r>
            <a:r>
              <a:rPr lang="en-US" altLang="zh-CN" sz="2800" b="0" i="0" u="none" strike="noStrike" baseline="0" dirty="0">
                <a:latin typeface="LinLibertineT"/>
              </a:rPr>
              <a:t>in terms of </a:t>
            </a:r>
            <a:r>
              <a:rPr lang="en-US" altLang="zh-CN" sz="2800" b="0" i="0" u="none" strike="noStrike" baseline="0" dirty="0" err="1">
                <a:latin typeface="LinLibertineT"/>
              </a:rPr>
              <a:t>CIDEr</a:t>
            </a:r>
            <a:r>
              <a:rPr lang="en-US" altLang="zh-CN" sz="2800" b="0" i="0" u="none" strike="noStrike" baseline="0" dirty="0">
                <a:latin typeface="LinLibertineT"/>
              </a:rPr>
              <a:t> and SPICE can be achieved.</a:t>
            </a:r>
            <a:endParaRPr lang="zh-CN" altLang="en-US" dirty="0"/>
          </a:p>
        </p:txBody>
      </p:sp>
      <p:sp>
        <p:nvSpPr>
          <p:cNvPr id="18" name="TextBox 8">
            <a:extLst>
              <a:ext uri="{FF2B5EF4-FFF2-40B4-BE49-F238E27FC236}">
                <a16:creationId xmlns:a16="http://schemas.microsoft.com/office/drawing/2014/main" id="{EB860622-0416-47DF-A606-FEFB5D4AE411}"/>
              </a:ext>
            </a:extLst>
          </p:cNvPr>
          <p:cNvSpPr txBox="1"/>
          <p:nvPr/>
        </p:nvSpPr>
        <p:spPr>
          <a:xfrm>
            <a:off x="0" y="1549980"/>
            <a:ext cx="2554802" cy="830997"/>
          </a:xfrm>
          <a:prstGeom prst="rect">
            <a:avLst/>
          </a:prstGeom>
          <a:noFill/>
        </p:spPr>
        <p:txBody>
          <a:bodyPr wrap="square" rtlCol="0">
            <a:spAutoFit/>
          </a:bodyPr>
          <a:lstStyle/>
          <a:p>
            <a:r>
              <a:rPr lang="en-US" altLang="zh-CN" sz="2400" b="0" i="0" u="none" strike="noStrike" baseline="0" dirty="0">
                <a:solidFill>
                  <a:srgbClr val="EA0000"/>
                </a:solidFill>
                <a:latin typeface="LinLibertineTB"/>
              </a:rPr>
              <a:t>the state-of-the-art models </a:t>
            </a:r>
            <a:endParaRPr lang="en-US" altLang="zh-CN" sz="2200" b="1" dirty="0">
              <a:solidFill>
                <a:srgbClr val="EA0000"/>
              </a:solidFill>
            </a:endParaRPr>
          </a:p>
        </p:txBody>
      </p:sp>
      <p:cxnSp>
        <p:nvCxnSpPr>
          <p:cNvPr id="19" name="直接箭头连接符 18">
            <a:extLst>
              <a:ext uri="{FF2B5EF4-FFF2-40B4-BE49-F238E27FC236}">
                <a16:creationId xmlns:a16="http://schemas.microsoft.com/office/drawing/2014/main" id="{117AF710-D03E-4380-AF96-F09A0D3CD1C2}"/>
              </a:ext>
            </a:extLst>
          </p:cNvPr>
          <p:cNvCxnSpPr>
            <a:cxnSpLocks/>
            <a:stCxn id="20" idx="1"/>
          </p:cNvCxnSpPr>
          <p:nvPr/>
        </p:nvCxnSpPr>
        <p:spPr>
          <a:xfrm flipH="1">
            <a:off x="1551008" y="1921411"/>
            <a:ext cx="811358" cy="13888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圆角矩形 13">
            <a:extLst>
              <a:ext uri="{FF2B5EF4-FFF2-40B4-BE49-F238E27FC236}">
                <a16:creationId xmlns:a16="http://schemas.microsoft.com/office/drawing/2014/main" id="{7E1DB9E4-A73A-40B1-B21F-B52804AF84CA}"/>
              </a:ext>
            </a:extLst>
          </p:cNvPr>
          <p:cNvSpPr/>
          <p:nvPr/>
        </p:nvSpPr>
        <p:spPr>
          <a:xfrm>
            <a:off x="2362366" y="1678355"/>
            <a:ext cx="901695" cy="486111"/>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50037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Experiments: Performance on the Flickr30k</a:t>
            </a:r>
            <a:endParaRPr lang="zh-CN" altLang="en-US" dirty="0"/>
          </a:p>
        </p:txBody>
      </p:sp>
      <p:sp>
        <p:nvSpPr>
          <p:cNvPr id="8" name="页脚占位符 7">
            <a:extLst>
              <a:ext uri="{FF2B5EF4-FFF2-40B4-BE49-F238E27FC236}">
                <a16:creationId xmlns:a16="http://schemas.microsoft.com/office/drawing/2014/main" id="{AE8C9982-446E-4AF8-833C-DF1F1DD2D33A}"/>
              </a:ext>
            </a:extLst>
          </p:cNvPr>
          <p:cNvSpPr>
            <a:spLocks noGrp="1"/>
          </p:cNvSpPr>
          <p:nvPr>
            <p:ph type="ftr" sz="quarter" idx="11"/>
          </p:nvPr>
        </p:nvSpPr>
        <p:spPr/>
        <p:txBody>
          <a:bodyPr/>
          <a:lstStyle/>
          <a:p>
            <a:endParaRPr lang="en-US" altLang="zh-CN" dirty="0"/>
          </a:p>
        </p:txBody>
      </p:sp>
      <p:sp>
        <p:nvSpPr>
          <p:cNvPr id="9" name="灯片编号占位符 8">
            <a:extLst>
              <a:ext uri="{FF2B5EF4-FFF2-40B4-BE49-F238E27FC236}">
                <a16:creationId xmlns:a16="http://schemas.microsoft.com/office/drawing/2014/main" id="{D19DAD48-5A5D-44F0-84DE-89E103386C73}"/>
              </a:ext>
            </a:extLst>
          </p:cNvPr>
          <p:cNvSpPr>
            <a:spLocks noGrp="1"/>
          </p:cNvSpPr>
          <p:nvPr>
            <p:ph type="sldNum" sz="quarter" idx="12"/>
          </p:nvPr>
        </p:nvSpPr>
        <p:spPr/>
        <p:txBody>
          <a:bodyPr/>
          <a:lstStyle/>
          <a:p>
            <a:fld id="{07703EE9-A018-4270-837F-8601F4153809}" type="slidenum">
              <a:rPr lang="en-US" altLang="zh-CN" smtClean="0"/>
              <a:pPr/>
              <a:t>15</a:t>
            </a:fld>
            <a:endParaRPr lang="en-US" altLang="zh-CN"/>
          </a:p>
        </p:txBody>
      </p:sp>
      <p:pic>
        <p:nvPicPr>
          <p:cNvPr id="4" name="图片 3">
            <a:extLst>
              <a:ext uri="{FF2B5EF4-FFF2-40B4-BE49-F238E27FC236}">
                <a16:creationId xmlns:a16="http://schemas.microsoft.com/office/drawing/2014/main" id="{A33E04AB-4E88-4218-BA0C-70180D4B236C}"/>
              </a:ext>
            </a:extLst>
          </p:cNvPr>
          <p:cNvPicPr>
            <a:picLocks noChangeAspect="1"/>
          </p:cNvPicPr>
          <p:nvPr/>
        </p:nvPicPr>
        <p:blipFill>
          <a:blip r:embed="rId3"/>
          <a:stretch>
            <a:fillRect/>
          </a:stretch>
        </p:blipFill>
        <p:spPr>
          <a:xfrm>
            <a:off x="3096229" y="1234391"/>
            <a:ext cx="5457463" cy="3551824"/>
          </a:xfrm>
          <a:prstGeom prst="rect">
            <a:avLst/>
          </a:prstGeom>
        </p:spPr>
      </p:pic>
      <p:sp>
        <p:nvSpPr>
          <p:cNvPr id="11" name="内容占位符 2">
            <a:extLst>
              <a:ext uri="{FF2B5EF4-FFF2-40B4-BE49-F238E27FC236}">
                <a16:creationId xmlns:a16="http://schemas.microsoft.com/office/drawing/2014/main" id="{A13EBFAD-CF8E-4FC2-920C-140FCCCBB4DE}"/>
              </a:ext>
            </a:extLst>
          </p:cNvPr>
          <p:cNvSpPr>
            <a:spLocks noGrp="1"/>
          </p:cNvSpPr>
          <p:nvPr>
            <p:ph idx="1"/>
          </p:nvPr>
        </p:nvSpPr>
        <p:spPr>
          <a:xfrm>
            <a:off x="135804" y="4615257"/>
            <a:ext cx="12157757" cy="3142917"/>
          </a:xfrm>
        </p:spPr>
        <p:txBody>
          <a:bodyPr>
            <a:normAutofit/>
          </a:bodyPr>
          <a:lstStyle/>
          <a:p>
            <a:pPr algn="l"/>
            <a:r>
              <a:rPr lang="en-US" altLang="zh-CN" sz="2800" b="0" i="0" u="none" strike="noStrike" baseline="0" dirty="0">
                <a:latin typeface="LinLibertineT"/>
              </a:rPr>
              <a:t>As we can see, improvements of </a:t>
            </a:r>
            <a:r>
              <a:rPr lang="en-US" altLang="zh-CN" sz="2800" b="0" i="0" u="none" strike="noStrike" baseline="0" dirty="0">
                <a:solidFill>
                  <a:srgbClr val="EA0000"/>
                </a:solidFill>
                <a:latin typeface="LinLibertineT"/>
              </a:rPr>
              <a:t>6%</a:t>
            </a:r>
            <a:r>
              <a:rPr lang="en-US" altLang="zh-CN" sz="2800" b="0" i="0" u="none" strike="noStrike" baseline="0" dirty="0">
                <a:latin typeface="LinLibertineT"/>
              </a:rPr>
              <a:t> and </a:t>
            </a:r>
            <a:r>
              <a:rPr lang="en-US" altLang="zh-CN" sz="2800" b="0" i="0" u="none" strike="noStrike" baseline="0" dirty="0">
                <a:solidFill>
                  <a:srgbClr val="EA0000"/>
                </a:solidFill>
                <a:latin typeface="LinLibertineT"/>
              </a:rPr>
              <a:t>9%</a:t>
            </a:r>
            <a:r>
              <a:rPr lang="en-US" altLang="zh-CN" sz="2800" b="0" i="0" u="none" strike="noStrike" baseline="0" dirty="0">
                <a:latin typeface="LinLibertineT"/>
              </a:rPr>
              <a:t> with respect to </a:t>
            </a:r>
            <a:r>
              <a:rPr lang="en-US" altLang="zh-CN" sz="2800" b="0" i="0" u="none" strike="noStrike" baseline="0" dirty="0" err="1">
                <a:latin typeface="LinLibertineT"/>
              </a:rPr>
              <a:t>CIDEr</a:t>
            </a:r>
            <a:r>
              <a:rPr lang="en-US" altLang="zh-CN" sz="2800" b="0" i="0" u="none" strike="noStrike" baseline="0" dirty="0">
                <a:latin typeface="LinLibertineT"/>
              </a:rPr>
              <a:t> and SPICE are achieved respectively when applying the proposal to the models that employ both image features and textual concepts.</a:t>
            </a:r>
          </a:p>
          <a:p>
            <a:pPr algn="l"/>
            <a:r>
              <a:rPr lang="en-US" altLang="zh-CN" sz="2800" b="0" i="0" u="none" strike="noStrike" baseline="0" dirty="0">
                <a:latin typeface="LinLibertineT"/>
              </a:rPr>
              <a:t>The results verify that </a:t>
            </a:r>
            <a:r>
              <a:rPr lang="en-US" altLang="zh-CN" sz="2800" b="0" i="0" u="none" strike="noStrike" baseline="0" dirty="0">
                <a:solidFill>
                  <a:srgbClr val="EA0000"/>
                </a:solidFill>
                <a:latin typeface="LinLibertineT"/>
              </a:rPr>
              <a:t>the improvement comes from the textual-enriched image features rather than simple incorporation of textual concepts</a:t>
            </a:r>
            <a:r>
              <a:rPr lang="en-US" altLang="zh-CN" sz="2800" b="0" i="0" u="none" strike="noStrike" baseline="0" dirty="0">
                <a:latin typeface="LinLibertineT"/>
              </a:rPr>
              <a:t>.</a:t>
            </a:r>
          </a:p>
        </p:txBody>
      </p:sp>
      <p:sp>
        <p:nvSpPr>
          <p:cNvPr id="12" name="TextBox 8">
            <a:extLst>
              <a:ext uri="{FF2B5EF4-FFF2-40B4-BE49-F238E27FC236}">
                <a16:creationId xmlns:a16="http://schemas.microsoft.com/office/drawing/2014/main" id="{753A40B8-5130-4284-811B-5BFD8CC652DD}"/>
              </a:ext>
            </a:extLst>
          </p:cNvPr>
          <p:cNvSpPr txBox="1"/>
          <p:nvPr/>
        </p:nvSpPr>
        <p:spPr>
          <a:xfrm>
            <a:off x="0" y="1549980"/>
            <a:ext cx="2554802" cy="830997"/>
          </a:xfrm>
          <a:prstGeom prst="rect">
            <a:avLst/>
          </a:prstGeom>
          <a:noFill/>
        </p:spPr>
        <p:txBody>
          <a:bodyPr wrap="square" rtlCol="0">
            <a:spAutoFit/>
          </a:bodyPr>
          <a:lstStyle/>
          <a:p>
            <a:r>
              <a:rPr lang="en-US" altLang="zh-CN" sz="2400" b="0" i="0" u="none" strike="noStrike" baseline="0" dirty="0">
                <a:solidFill>
                  <a:srgbClr val="EA0000"/>
                </a:solidFill>
                <a:latin typeface="LinLibertineTB"/>
              </a:rPr>
              <a:t>the state-of-the-art model </a:t>
            </a:r>
            <a:endParaRPr lang="en-US" altLang="zh-CN" sz="2200" b="1" dirty="0">
              <a:solidFill>
                <a:srgbClr val="EA0000"/>
              </a:solidFill>
            </a:endParaRPr>
          </a:p>
        </p:txBody>
      </p:sp>
      <p:cxnSp>
        <p:nvCxnSpPr>
          <p:cNvPr id="13" name="直接箭头连接符 12">
            <a:extLst>
              <a:ext uri="{FF2B5EF4-FFF2-40B4-BE49-F238E27FC236}">
                <a16:creationId xmlns:a16="http://schemas.microsoft.com/office/drawing/2014/main" id="{173F30AD-3196-4A49-B375-CCF53632C18A}"/>
              </a:ext>
            </a:extLst>
          </p:cNvPr>
          <p:cNvCxnSpPr>
            <a:cxnSpLocks/>
            <a:stCxn id="14" idx="1"/>
          </p:cNvCxnSpPr>
          <p:nvPr/>
        </p:nvCxnSpPr>
        <p:spPr>
          <a:xfrm flipH="1" flipV="1">
            <a:off x="1828800" y="2141342"/>
            <a:ext cx="1267429" cy="16203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圆角矩形 13">
            <a:extLst>
              <a:ext uri="{FF2B5EF4-FFF2-40B4-BE49-F238E27FC236}">
                <a16:creationId xmlns:a16="http://schemas.microsoft.com/office/drawing/2014/main" id="{95D54766-71DC-4284-B069-1D7E69DE8336}"/>
              </a:ext>
            </a:extLst>
          </p:cNvPr>
          <p:cNvSpPr/>
          <p:nvPr/>
        </p:nvSpPr>
        <p:spPr>
          <a:xfrm>
            <a:off x="3096229" y="2141342"/>
            <a:ext cx="1128530" cy="324065"/>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96622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ctrTitle"/>
          </p:nvPr>
        </p:nvSpPr>
        <p:spPr>
          <a:xfrm>
            <a:off x="0" y="2461794"/>
            <a:ext cx="12192000" cy="2387600"/>
          </a:xfrm>
        </p:spPr>
        <p:txBody>
          <a:bodyPr>
            <a:normAutofit/>
          </a:bodyPr>
          <a:lstStyle/>
          <a:p>
            <a:r>
              <a:rPr lang="en-US" altLang="zh-CN" dirty="0"/>
              <a:t>4. Conclusion</a:t>
            </a:r>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18A185-547B-4CD2-B088-BB6B5FE5B7CE}" type="slidenum">
              <a:rPr lang="zh-CN" altLang="en-US" smtClean="0"/>
              <a:pPr/>
              <a:t>16</a:t>
            </a:fld>
            <a:endParaRPr lang="zh-CN" altLang="en-US"/>
          </a:p>
        </p:txBody>
      </p:sp>
    </p:spTree>
    <p:extLst>
      <p:ext uri="{BB962C8B-B14F-4D97-AF65-F5344CB8AC3E}">
        <p14:creationId xmlns:p14="http://schemas.microsoft.com/office/powerpoint/2010/main" val="188536677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Conclusion</a:t>
            </a:r>
          </a:p>
        </p:txBody>
      </p:sp>
      <p:sp>
        <p:nvSpPr>
          <p:cNvPr id="3" name="内容占位符 2"/>
          <p:cNvSpPr>
            <a:spLocks noGrp="1"/>
          </p:cNvSpPr>
          <p:nvPr>
            <p:ph idx="1"/>
          </p:nvPr>
        </p:nvSpPr>
        <p:spPr>
          <a:xfrm>
            <a:off x="533400" y="1453776"/>
            <a:ext cx="11658600" cy="5404224"/>
          </a:xfrm>
        </p:spPr>
        <p:txBody>
          <a:bodyPr>
            <a:normAutofit lnSpcReduction="10000"/>
          </a:bodyPr>
          <a:lstStyle/>
          <a:p>
            <a:r>
              <a:rPr lang="en-US" altLang="zh-CN" dirty="0"/>
              <a:t>For achieving a deep image understanding efficiently, we introduce a novel approach to bridge the gap between vision and language domains in the encoding process, which provides a solid bias for image captioning.</a:t>
            </a:r>
          </a:p>
          <a:p>
            <a:r>
              <a:rPr lang="en-US" altLang="zh-CN" dirty="0"/>
              <a:t>We implement the proposed approach by enriching the image features with textual concepts. First, we introduce the Textual Distilling Module to distill relevant textual concepts for each visual object; Then, we introduce the Textual Association Module to group these concepts according to their semantics, and enrich the image features with grouped textual concepts.</a:t>
            </a:r>
          </a:p>
          <a:p>
            <a:r>
              <a:rPr lang="en-US" altLang="zh-CN" dirty="0"/>
              <a:t>The textual-enriched image features are able to bring consistent performance gains to existing models. According to our experimental results on the Flickr30k and MSCOCO datasets, after equipping textual-enriched image features, the baseline models receive up to 10% gain in </a:t>
            </a:r>
            <a:r>
              <a:rPr lang="en-US" altLang="zh-CN" dirty="0" err="1"/>
              <a:t>CIDEr</a:t>
            </a:r>
            <a:r>
              <a:rPr lang="en-US" altLang="zh-CN" dirty="0"/>
              <a:t> and 9% gain in SPICE.</a:t>
            </a:r>
          </a:p>
        </p:txBody>
      </p:sp>
      <p:sp>
        <p:nvSpPr>
          <p:cNvPr id="9" name="灯片编号占位符 8">
            <a:extLst>
              <a:ext uri="{FF2B5EF4-FFF2-40B4-BE49-F238E27FC236}">
                <a16:creationId xmlns:a16="http://schemas.microsoft.com/office/drawing/2014/main" id="{D19DAD48-5A5D-44F0-84DE-89E103386C73}"/>
              </a:ext>
            </a:extLst>
          </p:cNvPr>
          <p:cNvSpPr>
            <a:spLocks noGrp="1"/>
          </p:cNvSpPr>
          <p:nvPr>
            <p:ph type="sldNum" sz="quarter" idx="12"/>
          </p:nvPr>
        </p:nvSpPr>
        <p:spPr/>
        <p:txBody>
          <a:bodyPr/>
          <a:lstStyle/>
          <a:p>
            <a:fld id="{07703EE9-A018-4270-837F-8601F4153809}" type="slidenum">
              <a:rPr lang="en-US" altLang="zh-CN" smtClean="0"/>
              <a:pPr/>
              <a:t>17</a:t>
            </a:fld>
            <a:endParaRPr lang="en-US" altLang="zh-CN" dirty="0"/>
          </a:p>
        </p:txBody>
      </p:sp>
    </p:spTree>
    <p:extLst>
      <p:ext uri="{BB962C8B-B14F-4D97-AF65-F5344CB8AC3E}">
        <p14:creationId xmlns:p14="http://schemas.microsoft.com/office/powerpoint/2010/main" val="2309184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787888" y="1255200"/>
            <a:ext cx="10515600" cy="3087461"/>
          </a:xfrm>
        </p:spPr>
        <p:txBody>
          <a:bodyPr/>
          <a:lstStyle/>
          <a:p>
            <a:pPr algn="ctr"/>
            <a:br>
              <a:rPr lang="en-US" altLang="zh-CN" dirty="0"/>
            </a:br>
            <a:r>
              <a:rPr lang="zh-CN" altLang="en-US" dirty="0">
                <a:sym typeface="Wingdings" panose="05000000000000000000" pitchFamily="2" charset="2"/>
              </a:rPr>
              <a:t></a:t>
            </a:r>
            <a:br>
              <a:rPr lang="en-US" altLang="zh-CN" dirty="0"/>
            </a:br>
            <a:r>
              <a:rPr lang="en-US" altLang="zh-CN" dirty="0"/>
              <a:t>Thank you for your attention!</a:t>
            </a:r>
            <a:endParaRPr lang="zh-CN" altLang="en-US" dirty="0"/>
          </a:p>
        </p:txBody>
      </p:sp>
      <p:sp>
        <p:nvSpPr>
          <p:cNvPr id="5" name="页脚占位符 4"/>
          <p:cNvSpPr>
            <a:spLocks noGrp="1"/>
          </p:cNvSpPr>
          <p:nvPr>
            <p:ph type="ftr" sz="quarter" idx="11"/>
          </p:nvPr>
        </p:nvSpPr>
        <p:spPr/>
        <p:txBody>
          <a:bodyPr/>
          <a:lstStyle/>
          <a:p>
            <a:endParaRPr lang="en-US" altLang="zh-CN" dirty="0"/>
          </a:p>
        </p:txBody>
      </p:sp>
      <p:sp>
        <p:nvSpPr>
          <p:cNvPr id="6" name="灯片编号占位符 5"/>
          <p:cNvSpPr>
            <a:spLocks noGrp="1"/>
          </p:cNvSpPr>
          <p:nvPr>
            <p:ph type="sldNum" sz="quarter" idx="12"/>
          </p:nvPr>
        </p:nvSpPr>
        <p:spPr/>
        <p:txBody>
          <a:bodyPr/>
          <a:lstStyle/>
          <a:p>
            <a:fld id="{07703EE9-A018-4270-837F-8601F4153809}" type="slidenum">
              <a:rPr lang="en-US" altLang="zh-CN" smtClean="0"/>
              <a:pPr/>
              <a:t>18</a:t>
            </a:fld>
            <a:endParaRPr lang="en-US" altLang="zh-CN"/>
          </a:p>
        </p:txBody>
      </p:sp>
      <p:sp>
        <p:nvSpPr>
          <p:cNvPr id="2" name="文本框 1">
            <a:extLst>
              <a:ext uri="{FF2B5EF4-FFF2-40B4-BE49-F238E27FC236}">
                <a16:creationId xmlns:a16="http://schemas.microsoft.com/office/drawing/2014/main" id="{5ECB5001-EEBF-46C3-A3AC-9221A32F24B7}"/>
              </a:ext>
            </a:extLst>
          </p:cNvPr>
          <p:cNvSpPr txBox="1"/>
          <p:nvPr/>
        </p:nvSpPr>
        <p:spPr>
          <a:xfrm>
            <a:off x="0" y="4469982"/>
            <a:ext cx="12191999" cy="400110"/>
          </a:xfrm>
          <a:prstGeom prst="rect">
            <a:avLst/>
          </a:prstGeom>
          <a:noFill/>
        </p:spPr>
        <p:txBody>
          <a:bodyPr wrap="square" rtlCol="0">
            <a:spAutoFit/>
          </a:bodyPr>
          <a:lstStyle/>
          <a:p>
            <a:pPr algn="ctr"/>
            <a:r>
              <a:rPr lang="en-US" altLang="zh-CN" sz="2000" dirty="0"/>
              <a:t>If you have any questions about our paper, you can send an email to </a:t>
            </a:r>
            <a:r>
              <a:rPr lang="en-US" altLang="zh-CN" sz="2000" dirty="0">
                <a:solidFill>
                  <a:srgbClr val="FF0000"/>
                </a:solidFill>
              </a:rPr>
              <a:t>fenglinliu98@pku.edu.cn</a:t>
            </a:r>
          </a:p>
        </p:txBody>
      </p:sp>
    </p:spTree>
    <p:extLst>
      <p:ext uri="{BB962C8B-B14F-4D97-AF65-F5344CB8AC3E}">
        <p14:creationId xmlns:p14="http://schemas.microsoft.com/office/powerpoint/2010/main" val="2761633908"/>
      </p:ext>
    </p:extLst>
  </p:cSld>
  <p:clrMapOvr>
    <a:masterClrMapping/>
  </p:clrMapOvr>
</p:sld>
</file>

<file path=ppt/theme/theme1.xml><?xml version="1.0" encoding="utf-8"?>
<a:theme xmlns:a="http://schemas.openxmlformats.org/drawingml/2006/main" name="Office 主题​​">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8720</TotalTime>
  <Words>1602</Words>
  <Application>Microsoft Office PowerPoint</Application>
  <PresentationFormat>宽屏</PresentationFormat>
  <Paragraphs>157</Paragraphs>
  <Slides>18</Slides>
  <Notes>18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18</vt:i4>
      </vt:variant>
    </vt:vector>
  </HeadingPairs>
  <TitlesOfParts>
    <vt:vector size="34" baseType="lpstr">
      <vt:lpstr>LinBiolinumTB</vt:lpstr>
      <vt:lpstr>LinLibertineT</vt:lpstr>
      <vt:lpstr>LinLibertineTB</vt:lpstr>
      <vt:lpstr>LinLibertineTBI</vt:lpstr>
      <vt:lpstr>LinLibertineTI</vt:lpstr>
      <vt:lpstr>NimbusRomNo9L-Regu</vt:lpstr>
      <vt:lpstr>等线</vt:lpstr>
      <vt:lpstr>黑体</vt:lpstr>
      <vt:lpstr>华文新魏</vt:lpstr>
      <vt:lpstr>楷体</vt:lpstr>
      <vt:lpstr>Arial</vt:lpstr>
      <vt:lpstr>Calibri</vt:lpstr>
      <vt:lpstr>Cambria</vt:lpstr>
      <vt:lpstr>Times New Roman</vt:lpstr>
      <vt:lpstr>Wingdings</vt:lpstr>
      <vt:lpstr>Office 主题​​</vt:lpstr>
      <vt:lpstr>Bridging the Gap between Vision and Language Domains for Improved Image Captioning</vt:lpstr>
      <vt:lpstr>Outline</vt:lpstr>
      <vt:lpstr>1. Introduction</vt:lpstr>
      <vt:lpstr>Introduction: Background</vt:lpstr>
      <vt:lpstr>Introduction: Motivations</vt:lpstr>
      <vt:lpstr>Introduction: Approach</vt:lpstr>
      <vt:lpstr>2. Approach</vt:lpstr>
      <vt:lpstr>Approach: Overview</vt:lpstr>
      <vt:lpstr>Approach: Textual Distilling Module (TDM)</vt:lpstr>
      <vt:lpstr>Approach: Textual Association Module (TAM)</vt:lpstr>
      <vt:lpstr>Approach: Summary</vt:lpstr>
      <vt:lpstr>3. Experiments</vt:lpstr>
      <vt:lpstr>Experiments: Datasets and Metrics</vt:lpstr>
      <vt:lpstr>Experiments: Performance on the MSCOCO</vt:lpstr>
      <vt:lpstr>Experiments: Performance on the Flickr30k</vt:lpstr>
      <vt:lpstr>4. Conclusion</vt:lpstr>
      <vt:lpstr>Conclusion</vt:lpstr>
      <vt:lpstr>  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dm Y</dc:creator>
  <cp:keywords>CTPClassification=CTP_NT</cp:keywords>
  <cp:lastModifiedBy>刘 峰林</cp:lastModifiedBy>
  <cp:revision>1629</cp:revision>
  <dcterms:created xsi:type="dcterms:W3CDTF">2018-05-15T02:41:31Z</dcterms:created>
  <dcterms:modified xsi:type="dcterms:W3CDTF">2020-09-14T13:34:41Z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0bac94a5-d60e-47fe-b3d9-07552e40ec9c</vt:lpwstr>
  </property>
  <property fmtid="{D5CDD505-2E9C-101B-9397-08002B2CF9AE}" pid="3" name="CTP_TimeStamp">
    <vt:lpwstr>2020-04-01 00:30:26Z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ies>
</file>